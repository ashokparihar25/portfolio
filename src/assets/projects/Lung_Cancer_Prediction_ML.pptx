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10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1pPr>
    <a:lvl2pPr marL="0" marR="0" indent="457200" algn="l" defTabSz="2438338" rtl="0" fontAlgn="auto" latinLnBrk="0" hangingPunct="0">
      <a:lnSpc>
        <a:spcPct val="10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10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10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10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10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10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10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10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58" y="2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8" name="Shape 168"/>
          <p:cNvSpPr>
            <a:spLocks noGrp="1" noRot="1" noChangeAspect="1"/>
          </p:cNvSpPr>
          <p:nvPr>
            <p:ph type="sldImg"/>
          </p:nvPr>
        </p:nvSpPr>
        <p:spPr>
          <a:xfrm>
            <a:off x="1143000" y="685800"/>
            <a:ext cx="4572000" cy="3429000"/>
          </a:xfrm>
          <a:prstGeom prst="rect">
            <a:avLst/>
          </a:prstGeom>
        </p:spPr>
        <p:txBody>
          <a:bodyPr/>
          <a:lstStyle/>
          <a:p>
            <a:endParaRPr/>
          </a:p>
        </p:txBody>
      </p:sp>
      <p:sp>
        <p:nvSpPr>
          <p:cNvPr id="169" name="Shape 16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bg>
      <p:bgPr>
        <a:solidFill>
          <a:srgbClr val="003462"/>
        </a:solidFill>
        <a:effectLst/>
      </p:bgPr>
    </p:bg>
    <p:spTree>
      <p:nvGrpSpPr>
        <p:cNvPr id="1" name=""/>
        <p:cNvGrpSpPr/>
        <p:nvPr/>
      </p:nvGrpSpPr>
      <p:grpSpPr>
        <a:xfrm>
          <a:off x="0" y="0"/>
          <a:ext cx="0" cy="0"/>
          <a:chOff x="0" y="0"/>
          <a:chExt cx="0" cy="0"/>
        </a:xfrm>
      </p:grpSpPr>
      <p:sp>
        <p:nvSpPr>
          <p:cNvPr id="11" name="Author and Date"/>
          <p:cNvSpPr txBox="1">
            <a:spLocks noGrp="1"/>
          </p:cNvSpPr>
          <p:nvPr>
            <p:ph type="body" sz="quarter" idx="21" hasCustomPrompt="1"/>
          </p:nvPr>
        </p:nvSpPr>
        <p:spPr>
          <a:xfrm>
            <a:off x="1201340" y="11847162"/>
            <a:ext cx="21971003" cy="636979"/>
          </a:xfrm>
          <a:prstGeom prst="rect">
            <a:avLst/>
          </a:prstGeom>
        </p:spPr>
        <p:txBody>
          <a:bodyPr lIns="45719" tIns="45719" rIns="45719" bIns="45719"/>
          <a:lstStyle>
            <a:lvl1pPr marL="0" indent="0" defTabSz="825500">
              <a:spcBef>
                <a:spcPts val="0"/>
              </a:spcBef>
              <a:buSzTx/>
              <a:buNone/>
              <a:defRPr sz="3600" b="1">
                <a:solidFill>
                  <a:srgbClr val="FFFFFF"/>
                </a:solidFill>
              </a:defRPr>
            </a:lvl1pPr>
          </a:lstStyle>
          <a:p>
            <a:r>
              <a:t>Author and Date</a:t>
            </a:r>
          </a:p>
        </p:txBody>
      </p:sp>
      <p:sp>
        <p:nvSpPr>
          <p:cNvPr id="12" name="Presentation Title"/>
          <p:cNvSpPr txBox="1">
            <a:spLocks noGrp="1"/>
          </p:cNvSpPr>
          <p:nvPr>
            <p:ph type="title" hasCustomPrompt="1"/>
          </p:nvPr>
        </p:nvSpPr>
        <p:spPr>
          <a:xfrm>
            <a:off x="1206496" y="2574991"/>
            <a:ext cx="21971004" cy="4648201"/>
          </a:xfrm>
          <a:prstGeom prst="rect">
            <a:avLst/>
          </a:prstGeom>
        </p:spPr>
        <p:txBody>
          <a:bodyPr anchor="b"/>
          <a:lstStyle>
            <a:lvl1pPr>
              <a:defRPr sz="11600" spc="-232">
                <a:solidFill>
                  <a:srgbClr val="FFFFFF"/>
                </a:solidFill>
              </a:defRPr>
            </a:lvl1pPr>
          </a:lstStyle>
          <a:p>
            <a:r>
              <a:t>Presentation Title</a:t>
            </a:r>
          </a:p>
        </p:txBody>
      </p:sp>
      <p:sp>
        <p:nvSpPr>
          <p:cNvPr id="13" name="Body Level One…"/>
          <p:cNvSpPr txBox="1">
            <a:spLocks noGrp="1"/>
          </p:cNvSpPr>
          <p:nvPr>
            <p:ph type="body" sz="quarter" idx="1" hasCustomPrompt="1"/>
          </p:nvPr>
        </p:nvSpPr>
        <p:spPr>
          <a:xfrm>
            <a:off x="1201342" y="7210490"/>
            <a:ext cx="21971001" cy="1905001"/>
          </a:xfrm>
          <a:prstGeom prst="rect">
            <a:avLst/>
          </a:prstGeom>
        </p:spPr>
        <p:txBody>
          <a:bodyPr/>
          <a:lstStyle>
            <a:lvl1pPr marL="0" indent="0" defTabSz="825500">
              <a:spcBef>
                <a:spcPts val="0"/>
              </a:spcBef>
              <a:buSzTx/>
              <a:buNone/>
              <a:defRPr sz="5500" b="1">
                <a:solidFill>
                  <a:schemeClr val="accent1"/>
                </a:solidFill>
              </a:defRPr>
            </a:lvl1pPr>
            <a:lvl2pPr marL="0" indent="457200" defTabSz="825500">
              <a:spcBef>
                <a:spcPts val="0"/>
              </a:spcBef>
              <a:buSzTx/>
              <a:buNone/>
              <a:defRPr sz="5500" b="1">
                <a:solidFill>
                  <a:schemeClr val="accent1"/>
                </a:solidFill>
              </a:defRPr>
            </a:lvl2pPr>
            <a:lvl3pPr marL="0" indent="914400" defTabSz="825500">
              <a:spcBef>
                <a:spcPts val="0"/>
              </a:spcBef>
              <a:buSzTx/>
              <a:buNone/>
              <a:defRPr sz="5500" b="1">
                <a:solidFill>
                  <a:schemeClr val="accent1"/>
                </a:solidFill>
              </a:defRPr>
            </a:lvl3pPr>
            <a:lvl4pPr marL="0" indent="1371600" defTabSz="825500">
              <a:spcBef>
                <a:spcPts val="0"/>
              </a:spcBef>
              <a:buSzTx/>
              <a:buNone/>
              <a:defRPr sz="5500" b="1">
                <a:solidFill>
                  <a:schemeClr val="accent1"/>
                </a:solidFill>
              </a:defRPr>
            </a:lvl4pPr>
            <a:lvl5pPr marL="0" indent="1828800" defTabSz="825500">
              <a:spcBef>
                <a:spcPts val="0"/>
              </a:spcBef>
              <a:buSzTx/>
              <a:buNone/>
              <a:defRPr sz="5500" b="1">
                <a:solidFill>
                  <a:schemeClr val="accent1"/>
                </a:solidFill>
              </a:defRPr>
            </a:lvl5pPr>
          </a:lstStyle>
          <a:p>
            <a:r>
              <a:t>Presentation Subtitle</a:t>
            </a:r>
          </a:p>
          <a:p>
            <a:pPr lvl="1"/>
            <a:endParaRPr/>
          </a:p>
          <a:p>
            <a:pPr lvl="2"/>
            <a:endParaRPr/>
          </a:p>
          <a:p>
            <a:pPr lvl="3"/>
            <a:endParaRPr/>
          </a:p>
          <a:p>
            <a:pPr lvl="4"/>
            <a:endParaRPr/>
          </a:p>
        </p:txBody>
      </p:sp>
      <p:sp>
        <p:nvSpPr>
          <p:cNvPr id="14"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mp; Photo">
    <p:spTree>
      <p:nvGrpSpPr>
        <p:cNvPr id="1" name=""/>
        <p:cNvGrpSpPr/>
        <p:nvPr/>
      </p:nvGrpSpPr>
      <p:grpSpPr>
        <a:xfrm>
          <a:off x="0" y="0"/>
          <a:ext cx="0" cy="0"/>
          <a:chOff x="0" y="0"/>
          <a:chExt cx="0" cy="0"/>
        </a:xfrm>
      </p:grpSpPr>
      <p:sp>
        <p:nvSpPr>
          <p:cNvPr id="21" name="Close-up of the top of a hot-air balloon viewed from above"/>
          <p:cNvSpPr>
            <a:spLocks noGrp="1"/>
          </p:cNvSpPr>
          <p:nvPr>
            <p:ph type="pic" idx="21"/>
          </p:nvPr>
        </p:nvSpPr>
        <p:spPr>
          <a:xfrm>
            <a:off x="0" y="-1270000"/>
            <a:ext cx="24384000" cy="16256000"/>
          </a:xfrm>
          <a:prstGeom prst="rect">
            <a:avLst/>
          </a:prstGeom>
        </p:spPr>
        <p:txBody>
          <a:bodyPr lIns="91439" tIns="45719" rIns="91439" bIns="45719">
            <a:noAutofit/>
          </a:bodyPr>
          <a:lstStyle/>
          <a:p>
            <a:endParaRPr/>
          </a:p>
        </p:txBody>
      </p:sp>
      <p:sp>
        <p:nvSpPr>
          <p:cNvPr id="22" name="Presentation Title"/>
          <p:cNvSpPr txBox="1">
            <a:spLocks noGrp="1"/>
          </p:cNvSpPr>
          <p:nvPr>
            <p:ph type="title" hasCustomPrompt="1"/>
          </p:nvPr>
        </p:nvSpPr>
        <p:spPr>
          <a:xfrm>
            <a:off x="1206500" y="7124700"/>
            <a:ext cx="21971000" cy="4648200"/>
          </a:xfrm>
          <a:prstGeom prst="rect">
            <a:avLst/>
          </a:prstGeom>
        </p:spPr>
        <p:txBody>
          <a:bodyPr anchor="b"/>
          <a:lstStyle>
            <a:lvl1pPr>
              <a:defRPr sz="11600" spc="-232">
                <a:solidFill>
                  <a:srgbClr val="FFFFFF"/>
                </a:solidFill>
              </a:defRPr>
            </a:lvl1pPr>
          </a:lstStyle>
          <a:p>
            <a:r>
              <a:t>Presentation Title</a:t>
            </a:r>
          </a:p>
        </p:txBody>
      </p:sp>
      <p:sp>
        <p:nvSpPr>
          <p:cNvPr id="23" name="Author and Date"/>
          <p:cNvSpPr txBox="1">
            <a:spLocks noGrp="1"/>
          </p:cNvSpPr>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spcBef>
                <a:spcPts val="0"/>
              </a:spcBef>
              <a:buSzTx/>
              <a:buNone/>
              <a:defRPr sz="3600" b="1"/>
            </a:lvl1pPr>
          </a:lstStyle>
          <a:p>
            <a:r>
              <a:t>Author and Date</a:t>
            </a:r>
          </a:p>
        </p:txBody>
      </p:sp>
      <p:sp>
        <p:nvSpPr>
          <p:cNvPr id="24" name="Body Level One…"/>
          <p:cNvSpPr txBox="1">
            <a:spLocks noGrp="1"/>
          </p:cNvSpPr>
          <p:nvPr>
            <p:ph type="body" sz="quarter" idx="1" hasCustomPrompt="1"/>
          </p:nvPr>
        </p:nvSpPr>
        <p:spPr>
          <a:xfrm>
            <a:off x="1206500" y="11609910"/>
            <a:ext cx="21971000" cy="1116952"/>
          </a:xfrm>
          <a:prstGeom prst="rect">
            <a:avLst/>
          </a:prstGeom>
        </p:spPr>
        <p:txBody>
          <a:bodyPr/>
          <a:lstStyle>
            <a:lvl1pPr marL="0" indent="0" defTabSz="825500">
              <a:spcBef>
                <a:spcPts val="0"/>
              </a:spcBef>
              <a:buSzTx/>
              <a:buNone/>
              <a:defRPr sz="5500" b="1">
                <a:solidFill>
                  <a:srgbClr val="FFFFFF"/>
                </a:solidFill>
              </a:defRPr>
            </a:lvl1pPr>
            <a:lvl2pPr marL="0" indent="457200" defTabSz="825500">
              <a:spcBef>
                <a:spcPts val="0"/>
              </a:spcBef>
              <a:buSzTx/>
              <a:buNone/>
              <a:defRPr sz="5500" b="1">
                <a:solidFill>
                  <a:srgbClr val="FFFFFF"/>
                </a:solidFill>
              </a:defRPr>
            </a:lvl2pPr>
            <a:lvl3pPr marL="0" indent="914400" defTabSz="825500">
              <a:spcBef>
                <a:spcPts val="0"/>
              </a:spcBef>
              <a:buSzTx/>
              <a:buNone/>
              <a:defRPr sz="5500" b="1">
                <a:solidFill>
                  <a:srgbClr val="FFFFFF"/>
                </a:solidFill>
              </a:defRPr>
            </a:lvl3pPr>
            <a:lvl4pPr marL="0" indent="1371600" defTabSz="825500">
              <a:spcBef>
                <a:spcPts val="0"/>
              </a:spcBef>
              <a:buSzTx/>
              <a:buNone/>
              <a:defRPr sz="5500" b="1">
                <a:solidFill>
                  <a:srgbClr val="FFFFFF"/>
                </a:solidFill>
              </a:defRPr>
            </a:lvl4pPr>
            <a:lvl5pPr marL="0" indent="1828800" defTabSz="825500">
              <a:spcBef>
                <a:spcPts val="0"/>
              </a:spcBef>
              <a:buSzTx/>
              <a:buNone/>
              <a:defRPr sz="5500" b="1">
                <a:solidFill>
                  <a:srgbClr val="FFFFFF"/>
                </a:solidFill>
              </a:defRPr>
            </a:lvl5pPr>
          </a:lstStyle>
          <a:p>
            <a:r>
              <a:t>Presentation Subtitle</a:t>
            </a:r>
          </a:p>
          <a:p>
            <a:pPr lvl="1"/>
            <a:endParaRPr/>
          </a:p>
          <a:p>
            <a:pPr lvl="2"/>
            <a:endParaRPr/>
          </a:p>
          <a:p>
            <a:pPr lvl="3"/>
            <a:endParaRPr/>
          </a:p>
          <a:p>
            <a:pPr lvl="4"/>
            <a:endParaRPr/>
          </a:p>
        </p:txBody>
      </p:sp>
      <p:sp>
        <p:nvSpPr>
          <p:cNvPr id="25"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Photo Alt">
    <p:spTree>
      <p:nvGrpSpPr>
        <p:cNvPr id="1" name=""/>
        <p:cNvGrpSpPr/>
        <p:nvPr/>
      </p:nvGrpSpPr>
      <p:grpSpPr>
        <a:xfrm>
          <a:off x="0" y="0"/>
          <a:ext cx="0" cy="0"/>
          <a:chOff x="0" y="0"/>
          <a:chExt cx="0" cy="0"/>
        </a:xfrm>
      </p:grpSpPr>
      <p:sp>
        <p:nvSpPr>
          <p:cNvPr id="32" name="Close-up of a hot-air balloon viewed from below"/>
          <p:cNvSpPr>
            <a:spLocks noGrp="1"/>
          </p:cNvSpPr>
          <p:nvPr>
            <p:ph type="pic" idx="21"/>
          </p:nvPr>
        </p:nvSpPr>
        <p:spPr>
          <a:xfrm>
            <a:off x="9226574" y="1270000"/>
            <a:ext cx="16840152" cy="11184435"/>
          </a:xfrm>
          <a:prstGeom prst="rect">
            <a:avLst/>
          </a:prstGeom>
        </p:spPr>
        <p:txBody>
          <a:bodyPr lIns="91439" tIns="45719" rIns="91439" bIns="45719">
            <a:noAutofit/>
          </a:bodyPr>
          <a:lstStyle/>
          <a:p>
            <a:endParaRPr/>
          </a:p>
        </p:txBody>
      </p:sp>
      <p:sp>
        <p:nvSpPr>
          <p:cNvPr id="33" name="Slide Title"/>
          <p:cNvSpPr txBox="1">
            <a:spLocks noGrp="1"/>
          </p:cNvSpPr>
          <p:nvPr>
            <p:ph type="title" hasCustomPrompt="1"/>
          </p:nvPr>
        </p:nvSpPr>
        <p:spPr>
          <a:xfrm>
            <a:off x="1206500" y="1270000"/>
            <a:ext cx="9779000" cy="5882273"/>
          </a:xfrm>
          <a:prstGeom prst="rect">
            <a:avLst/>
          </a:prstGeom>
        </p:spPr>
        <p:txBody>
          <a:bodyPr anchor="b"/>
          <a:lstStyle/>
          <a:p>
            <a:r>
              <a:t>Slide Title</a:t>
            </a:r>
          </a:p>
        </p:txBody>
      </p:sp>
      <p:sp>
        <p:nvSpPr>
          <p:cNvPr id="34" name="Body Level One…"/>
          <p:cNvSpPr txBox="1">
            <a:spLocks noGrp="1"/>
          </p:cNvSpPr>
          <p:nvPr>
            <p:ph type="body" sz="quarter" idx="1" hasCustomPrompt="1"/>
          </p:nvPr>
        </p:nvSpPr>
        <p:spPr>
          <a:xfrm>
            <a:off x="1206500" y="7060576"/>
            <a:ext cx="9779000" cy="5385424"/>
          </a:xfrm>
          <a:prstGeom prst="rect">
            <a:avLst/>
          </a:prstGeom>
        </p:spPr>
        <p:txBody>
          <a:bodyPr/>
          <a:lstStyle>
            <a:lvl1pPr marL="0" indent="0" defTabSz="825500">
              <a:spcBef>
                <a:spcPts val="0"/>
              </a:spcBef>
              <a:buSzTx/>
              <a:buNone/>
              <a:defRPr sz="5500" b="1"/>
            </a:lvl1pPr>
            <a:lvl2pPr marL="0" indent="457200" defTabSz="825500">
              <a:spcBef>
                <a:spcPts val="0"/>
              </a:spcBef>
              <a:buSzTx/>
              <a:buNone/>
              <a:defRPr sz="5500" b="1"/>
            </a:lvl2pPr>
            <a:lvl3pPr marL="0" indent="914400" defTabSz="825500">
              <a:spcBef>
                <a:spcPts val="0"/>
              </a:spcBef>
              <a:buSzTx/>
              <a:buNone/>
              <a:defRPr sz="5500" b="1"/>
            </a:lvl3pPr>
            <a:lvl4pPr marL="0" indent="1371600" defTabSz="825500">
              <a:spcBef>
                <a:spcPts val="0"/>
              </a:spcBef>
              <a:buSzTx/>
              <a:buNone/>
              <a:defRPr sz="5500" b="1"/>
            </a:lvl4pPr>
            <a:lvl5pPr marL="0" indent="1828800" defTabSz="825500">
              <a:spcBef>
                <a:spcPts val="0"/>
              </a:spcBef>
              <a:buSzTx/>
              <a:buNone/>
              <a:defRPr sz="5500" b="1"/>
            </a:lvl5pPr>
          </a:lstStyle>
          <a:p>
            <a:r>
              <a:t>Slide Subtitle</a:t>
            </a:r>
          </a:p>
          <a:p>
            <a:pPr lvl="1"/>
            <a:endParaRPr/>
          </a:p>
          <a:p>
            <a:pPr lvl="2"/>
            <a:endParaRPr/>
          </a:p>
          <a:p>
            <a:pPr lvl="3"/>
            <a:endParaRPr/>
          </a:p>
          <a:p>
            <a:pPr lvl="4"/>
            <a:endParaRPr/>
          </a:p>
        </p:txBody>
      </p:sp>
      <p:sp>
        <p:nvSpPr>
          <p:cNvPr id="35" name="Slide Number"/>
          <p:cNvSpPr txBox="1">
            <a:spLocks noGrp="1"/>
          </p:cNvSpPr>
          <p:nvPr>
            <p:ph type="sldNum" sz="quarter" idx="2"/>
          </p:nvPr>
        </p:nvSpPr>
        <p:spPr>
          <a:xfrm>
            <a:off x="12001499" y="13085233"/>
            <a:ext cx="368505" cy="3746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2" name="Slide Title"/>
          <p:cNvSpPr txBox="1">
            <a:spLocks noGrp="1"/>
          </p:cNvSpPr>
          <p:nvPr>
            <p:ph type="title" hasCustomPrompt="1"/>
          </p:nvPr>
        </p:nvSpPr>
        <p:spPr>
          <a:prstGeom prst="rect">
            <a:avLst/>
          </a:prstGeom>
        </p:spPr>
        <p:txBody>
          <a:bodyPr/>
          <a:lstStyle/>
          <a:p>
            <a:r>
              <a:t>Slide Title</a:t>
            </a:r>
          </a:p>
        </p:txBody>
      </p:sp>
      <p:sp>
        <p:nvSpPr>
          <p:cNvPr id="43" name="Slide Subtitle"/>
          <p:cNvSpPr txBox="1">
            <a:spLocks noGrp="1"/>
          </p:cNvSpPr>
          <p:nvPr>
            <p:ph type="body" sz="quarter" idx="21" hasCustomPrompt="1"/>
          </p:nvPr>
        </p:nvSpPr>
        <p:spPr>
          <a:xfrm>
            <a:off x="1206500" y="2245962"/>
            <a:ext cx="21971000" cy="934780"/>
          </a:xfrm>
          <a:prstGeom prst="rect">
            <a:avLst/>
          </a:prstGeom>
        </p:spPr>
        <p:txBody>
          <a:bodyPr lIns="45719" tIns="45719" rIns="45719" bIns="45719"/>
          <a:lstStyle>
            <a:lvl1pPr marL="0" indent="0" defTabSz="825500">
              <a:spcBef>
                <a:spcPts val="0"/>
              </a:spcBef>
              <a:buSzTx/>
              <a:buNone/>
              <a:defRPr sz="5500" b="1"/>
            </a:lvl1pPr>
          </a:lstStyle>
          <a:p>
            <a:r>
              <a:t>Slide Subtitle</a:t>
            </a:r>
          </a:p>
        </p:txBody>
      </p:sp>
      <p:sp>
        <p:nvSpPr>
          <p:cNvPr id="44"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52" name="Body Level One…"/>
          <p:cNvSpPr txBox="1">
            <a:spLocks noGrp="1"/>
          </p:cNvSpPr>
          <p:nvPr>
            <p:ph type="body" idx="1" hasCustomPrompt="1"/>
          </p:nvPr>
        </p:nvSpPr>
        <p:spPr>
          <a:prstGeom prst="rect">
            <a:avLst/>
          </a:prstGeom>
        </p:spPr>
        <p:txBody>
          <a:bodyPr numCol="2" spcCol="1098550"/>
          <a:lstStyle/>
          <a:p>
            <a:r>
              <a:t>Slide bullet text</a:t>
            </a:r>
          </a:p>
          <a:p>
            <a:pPr lvl="1"/>
            <a:endParaRPr/>
          </a:p>
          <a:p>
            <a:pPr lvl="2"/>
            <a:endParaRPr/>
          </a:p>
          <a:p>
            <a:pPr lvl="3"/>
            <a:endParaRPr/>
          </a:p>
          <a:p>
            <a:pPr lvl="4"/>
            <a:endParaRPr/>
          </a:p>
        </p:txBody>
      </p:sp>
      <p:sp>
        <p:nvSpPr>
          <p:cNvPr id="5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0" name="Slide Subtitle"/>
          <p:cNvSpPr txBox="1">
            <a:spLocks noGrp="1"/>
          </p:cNvSpPr>
          <p:nvPr>
            <p:ph type="body" sz="quarter" idx="21" hasCustomPrompt="1"/>
          </p:nvPr>
        </p:nvSpPr>
        <p:spPr>
          <a:xfrm>
            <a:off x="1206500" y="2247900"/>
            <a:ext cx="9779000" cy="934779"/>
          </a:xfrm>
          <a:prstGeom prst="rect">
            <a:avLst/>
          </a:prstGeom>
        </p:spPr>
        <p:txBody>
          <a:bodyPr lIns="45719" tIns="45719" rIns="45719" bIns="45719"/>
          <a:lstStyle>
            <a:lvl1pPr marL="0" indent="0" defTabSz="825500">
              <a:spcBef>
                <a:spcPts val="0"/>
              </a:spcBef>
              <a:buSzTx/>
              <a:buNone/>
              <a:defRPr sz="5500" b="1"/>
            </a:lvl1pPr>
          </a:lstStyle>
          <a:p>
            <a:r>
              <a:t>Slide Subtitle</a:t>
            </a:r>
          </a:p>
        </p:txBody>
      </p:sp>
      <p:sp>
        <p:nvSpPr>
          <p:cNvPr id="61" name="Body Level One…"/>
          <p:cNvSpPr txBox="1">
            <a:spLocks noGrp="1"/>
          </p:cNvSpPr>
          <p:nvPr>
            <p:ph type="body" sz="half" idx="1" hasCustomPrompt="1"/>
          </p:nvPr>
        </p:nvSpPr>
        <p:spPr>
          <a:xfrm>
            <a:off x="1206500" y="4248504"/>
            <a:ext cx="9779000" cy="8256630"/>
          </a:xfrm>
          <a:prstGeom prst="rect">
            <a:avLst/>
          </a:prstGeom>
        </p:spPr>
        <p:txBody>
          <a:bodyPr/>
          <a:lstStyle/>
          <a:p>
            <a:r>
              <a:t>Slide bullet text</a:t>
            </a:r>
          </a:p>
          <a:p>
            <a:pPr lvl="1"/>
            <a:endParaRPr/>
          </a:p>
          <a:p>
            <a:pPr lvl="2"/>
            <a:endParaRPr/>
          </a:p>
          <a:p>
            <a:pPr lvl="3"/>
            <a:endParaRPr/>
          </a:p>
          <a:p>
            <a:pPr lvl="4"/>
            <a:endParaRPr/>
          </a:p>
        </p:txBody>
      </p:sp>
      <p:sp>
        <p:nvSpPr>
          <p:cNvPr id="62" name="Hot-air balloons viewed from below against a blue sky"/>
          <p:cNvSpPr>
            <a:spLocks noGrp="1"/>
          </p:cNvSpPr>
          <p:nvPr>
            <p:ph type="pic" idx="22"/>
          </p:nvPr>
        </p:nvSpPr>
        <p:spPr>
          <a:xfrm>
            <a:off x="8432800" y="1263848"/>
            <a:ext cx="16850011" cy="11188205"/>
          </a:xfrm>
          <a:prstGeom prst="rect">
            <a:avLst/>
          </a:prstGeom>
        </p:spPr>
        <p:txBody>
          <a:bodyPr lIns="91439" tIns="45719" rIns="91439" bIns="45719">
            <a:noAutofit/>
          </a:bodyPr>
          <a:lstStyle/>
          <a:p>
            <a:endParaRPr/>
          </a:p>
        </p:txBody>
      </p:sp>
      <p:sp>
        <p:nvSpPr>
          <p:cNvPr id="63" name="Slide Title"/>
          <p:cNvSpPr txBox="1">
            <a:spLocks noGrp="1"/>
          </p:cNvSpPr>
          <p:nvPr>
            <p:ph type="title" hasCustomPrompt="1"/>
          </p:nvPr>
        </p:nvSpPr>
        <p:spPr>
          <a:xfrm>
            <a:off x="1206500" y="952500"/>
            <a:ext cx="9779000" cy="1435100"/>
          </a:xfrm>
          <a:prstGeom prst="rect">
            <a:avLst/>
          </a:prstGeom>
        </p:spPr>
        <p:txBody>
          <a:bodyPr/>
          <a:lstStyle/>
          <a:p>
            <a:r>
              <a:t>Slide Title</a:t>
            </a:r>
          </a:p>
        </p:txBody>
      </p:sp>
      <p:sp>
        <p:nvSpPr>
          <p:cNvPr id="6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Live Video Small">
    <p:spTree>
      <p:nvGrpSpPr>
        <p:cNvPr id="1" name=""/>
        <p:cNvGrpSpPr/>
        <p:nvPr/>
      </p:nvGrpSpPr>
      <p:grpSpPr>
        <a:xfrm>
          <a:off x="0" y="0"/>
          <a:ext cx="0" cy="0"/>
          <a:chOff x="0" y="0"/>
          <a:chExt cx="0" cy="0"/>
        </a:xfrm>
      </p:grpSpPr>
      <p:sp>
        <p:nvSpPr>
          <p:cNvPr id="71" name="Slide Subtitle"/>
          <p:cNvSpPr txBox="1">
            <a:spLocks noGrp="1"/>
          </p:cNvSpPr>
          <p:nvPr>
            <p:ph type="body" sz="quarter" idx="21" hasCustomPrompt="1"/>
          </p:nvPr>
        </p:nvSpPr>
        <p:spPr>
          <a:xfrm>
            <a:off x="1206500" y="2247900"/>
            <a:ext cx="9779000" cy="934779"/>
          </a:xfrm>
          <a:prstGeom prst="rect">
            <a:avLst/>
          </a:prstGeom>
        </p:spPr>
        <p:txBody>
          <a:bodyPr lIns="45719" tIns="45719" rIns="45719" bIns="45719"/>
          <a:lstStyle>
            <a:lvl1pPr marL="0" indent="0" defTabSz="825500">
              <a:spcBef>
                <a:spcPts val="0"/>
              </a:spcBef>
              <a:buSzTx/>
              <a:buNone/>
              <a:defRPr sz="5500" b="1"/>
            </a:lvl1pPr>
          </a:lstStyle>
          <a:p>
            <a:r>
              <a:t>Slide Subtitle</a:t>
            </a:r>
          </a:p>
        </p:txBody>
      </p:sp>
      <p:sp>
        <p:nvSpPr>
          <p:cNvPr id="72" name="Body Level One…"/>
          <p:cNvSpPr txBox="1">
            <a:spLocks noGrp="1"/>
          </p:cNvSpPr>
          <p:nvPr>
            <p:ph type="body" sz="half" idx="1" hasCustomPrompt="1"/>
          </p:nvPr>
        </p:nvSpPr>
        <p:spPr>
          <a:xfrm>
            <a:off x="1206500" y="4248504"/>
            <a:ext cx="9779000" cy="8256630"/>
          </a:xfrm>
          <a:prstGeom prst="rect">
            <a:avLst/>
          </a:prstGeom>
        </p:spPr>
        <p:txBody>
          <a:bodyPr/>
          <a:lstStyle/>
          <a:p>
            <a:r>
              <a:t>Slide bullet text</a:t>
            </a:r>
          </a:p>
          <a:p>
            <a:pPr lvl="1"/>
            <a:endParaRPr/>
          </a:p>
          <a:p>
            <a:pPr lvl="2"/>
            <a:endParaRPr/>
          </a:p>
          <a:p>
            <a:pPr lvl="3"/>
            <a:endParaRPr/>
          </a:p>
          <a:p>
            <a:pPr lvl="4"/>
            <a:endParaRPr/>
          </a:p>
        </p:txBody>
      </p:sp>
      <p:sp>
        <p:nvSpPr>
          <p:cNvPr id="73" name="Slide Title"/>
          <p:cNvSpPr txBox="1">
            <a:spLocks noGrp="1"/>
          </p:cNvSpPr>
          <p:nvPr>
            <p:ph type="title" hasCustomPrompt="1"/>
          </p:nvPr>
        </p:nvSpPr>
        <p:spPr>
          <a:xfrm>
            <a:off x="1206500" y="952500"/>
            <a:ext cx="9779000" cy="1435100"/>
          </a:xfrm>
          <a:prstGeom prst="rect">
            <a:avLst/>
          </a:prstGeom>
        </p:spPr>
        <p:txBody>
          <a:bodyPr/>
          <a:lstStyle/>
          <a:p>
            <a:r>
              <a:t>Slide Title</a:t>
            </a:r>
          </a:p>
        </p:txBody>
      </p:sp>
      <p:sp>
        <p:nvSpPr>
          <p:cNvPr id="7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Bullets &amp; Live Video Large">
    <p:spTree>
      <p:nvGrpSpPr>
        <p:cNvPr id="1" name=""/>
        <p:cNvGrpSpPr/>
        <p:nvPr/>
      </p:nvGrpSpPr>
      <p:grpSpPr>
        <a:xfrm>
          <a:off x="0" y="0"/>
          <a:ext cx="0" cy="0"/>
          <a:chOff x="0" y="0"/>
          <a:chExt cx="0" cy="0"/>
        </a:xfrm>
      </p:grpSpPr>
      <p:sp>
        <p:nvSpPr>
          <p:cNvPr id="81" name="Slide Subtitle"/>
          <p:cNvSpPr txBox="1">
            <a:spLocks noGrp="1"/>
          </p:cNvSpPr>
          <p:nvPr>
            <p:ph type="body" sz="quarter" idx="21" hasCustomPrompt="1"/>
          </p:nvPr>
        </p:nvSpPr>
        <p:spPr>
          <a:xfrm>
            <a:off x="1206500" y="2247900"/>
            <a:ext cx="9779000" cy="934779"/>
          </a:xfrm>
          <a:prstGeom prst="rect">
            <a:avLst/>
          </a:prstGeom>
        </p:spPr>
        <p:txBody>
          <a:bodyPr lIns="45719" tIns="45719" rIns="45719" bIns="45719"/>
          <a:lstStyle>
            <a:lvl1pPr marL="0" indent="0" defTabSz="825500">
              <a:spcBef>
                <a:spcPts val="0"/>
              </a:spcBef>
              <a:buSzTx/>
              <a:buNone/>
              <a:defRPr sz="5500" b="1"/>
            </a:lvl1pPr>
          </a:lstStyle>
          <a:p>
            <a:r>
              <a:t>Slide Subtitle</a:t>
            </a:r>
          </a:p>
        </p:txBody>
      </p:sp>
      <p:sp>
        <p:nvSpPr>
          <p:cNvPr id="82" name="Body Level One…"/>
          <p:cNvSpPr txBox="1">
            <a:spLocks noGrp="1"/>
          </p:cNvSpPr>
          <p:nvPr>
            <p:ph type="body" sz="half" idx="1" hasCustomPrompt="1"/>
          </p:nvPr>
        </p:nvSpPr>
        <p:spPr>
          <a:xfrm>
            <a:off x="1206500" y="4248504"/>
            <a:ext cx="9779000" cy="8256630"/>
          </a:xfrm>
          <a:prstGeom prst="rect">
            <a:avLst/>
          </a:prstGeom>
        </p:spPr>
        <p:txBody>
          <a:bodyPr/>
          <a:lstStyle/>
          <a:p>
            <a:r>
              <a:t>Slide bullet text</a:t>
            </a:r>
          </a:p>
          <a:p>
            <a:pPr lvl="1"/>
            <a:endParaRPr/>
          </a:p>
          <a:p>
            <a:pPr lvl="2"/>
            <a:endParaRPr/>
          </a:p>
          <a:p>
            <a:pPr lvl="3"/>
            <a:endParaRPr/>
          </a:p>
          <a:p>
            <a:pPr lvl="4"/>
            <a:endParaRPr/>
          </a:p>
        </p:txBody>
      </p:sp>
      <p:sp>
        <p:nvSpPr>
          <p:cNvPr id="83" name="Slide Title"/>
          <p:cNvSpPr txBox="1">
            <a:spLocks noGrp="1"/>
          </p:cNvSpPr>
          <p:nvPr>
            <p:ph type="title" hasCustomPrompt="1"/>
          </p:nvPr>
        </p:nvSpPr>
        <p:spPr>
          <a:xfrm>
            <a:off x="1206500" y="952500"/>
            <a:ext cx="9779000" cy="1435100"/>
          </a:xfrm>
          <a:prstGeom prst="rect">
            <a:avLst/>
          </a:prstGeom>
        </p:spPr>
        <p:txBody>
          <a:bodyPr/>
          <a:lstStyle/>
          <a:p>
            <a:r>
              <a:t>Slide Title</a:t>
            </a:r>
          </a:p>
        </p:txBody>
      </p:sp>
      <p:sp>
        <p:nvSpPr>
          <p:cNvPr id="8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Section">
    <p:bg>
      <p:bgPr>
        <a:solidFill>
          <a:srgbClr val="003462"/>
        </a:solidFill>
        <a:effectLst/>
      </p:bgPr>
    </p:bg>
    <p:spTree>
      <p:nvGrpSpPr>
        <p:cNvPr id="1" name=""/>
        <p:cNvGrpSpPr/>
        <p:nvPr/>
      </p:nvGrpSpPr>
      <p:grpSpPr>
        <a:xfrm>
          <a:off x="0" y="0"/>
          <a:ext cx="0" cy="0"/>
          <a:chOff x="0" y="0"/>
          <a:chExt cx="0" cy="0"/>
        </a:xfrm>
      </p:grpSpPr>
      <p:sp>
        <p:nvSpPr>
          <p:cNvPr id="91" name="Section Title"/>
          <p:cNvSpPr txBox="1">
            <a:spLocks noGrp="1"/>
          </p:cNvSpPr>
          <p:nvPr>
            <p:ph type="title" hasCustomPrompt="1"/>
          </p:nvPr>
        </p:nvSpPr>
        <p:spPr>
          <a:xfrm>
            <a:off x="1206496" y="4533900"/>
            <a:ext cx="21971004" cy="4648200"/>
          </a:xfrm>
          <a:prstGeom prst="rect">
            <a:avLst/>
          </a:prstGeom>
        </p:spPr>
        <p:txBody>
          <a:bodyPr anchor="ctr"/>
          <a:lstStyle>
            <a:lvl1pPr>
              <a:defRPr sz="11600" b="0" spc="-232">
                <a:solidFill>
                  <a:srgbClr val="FFFFFF"/>
                </a:solidFill>
                <a:latin typeface="Helvetica Neue Medium"/>
                <a:ea typeface="Helvetica Neue Medium"/>
                <a:cs typeface="Helvetica Neue Medium"/>
                <a:sym typeface="Helvetica Neue Medium"/>
              </a:defRPr>
            </a:lvl1pPr>
          </a:lstStyle>
          <a:p>
            <a:r>
              <a:t>Section Title</a:t>
            </a:r>
          </a:p>
        </p:txBody>
      </p:sp>
      <p:sp>
        <p:nvSpPr>
          <p:cNvPr id="92" name="Slide Number"/>
          <p:cNvSpPr txBox="1">
            <a:spLocks noGrp="1"/>
          </p:cNvSpPr>
          <p:nvPr>
            <p:ph type="sldNum" sz="quarter" idx="2"/>
          </p:nvPr>
        </p:nvSpPr>
        <p:spPr>
          <a:xfrm>
            <a:off x="12001499" y="13085233"/>
            <a:ext cx="368505" cy="374600"/>
          </a:xfrm>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99" name="Slide Title"/>
          <p:cNvSpPr txBox="1">
            <a:spLocks noGrp="1"/>
          </p:cNvSpPr>
          <p:nvPr>
            <p:ph type="title" hasCustomPrompt="1"/>
          </p:nvPr>
        </p:nvSpPr>
        <p:spPr>
          <a:xfrm>
            <a:off x="1206500" y="952500"/>
            <a:ext cx="21971000" cy="1434949"/>
          </a:xfrm>
          <a:prstGeom prst="rect">
            <a:avLst/>
          </a:prstGeom>
        </p:spPr>
        <p:txBody>
          <a:bodyPr/>
          <a:lstStyle/>
          <a:p>
            <a:r>
              <a:t>Slide Title</a:t>
            </a:r>
          </a:p>
        </p:txBody>
      </p:sp>
      <p:sp>
        <p:nvSpPr>
          <p:cNvPr id="100" name="Slide Subtitle"/>
          <p:cNvSpPr txBox="1">
            <a:spLocks noGrp="1"/>
          </p:cNvSpPr>
          <p:nvPr>
            <p:ph type="body" sz="quarter" idx="21" hasCustomPrompt="1"/>
          </p:nvPr>
        </p:nvSpPr>
        <p:spPr>
          <a:xfrm>
            <a:off x="1206500" y="2247900"/>
            <a:ext cx="21971000" cy="934779"/>
          </a:xfrm>
          <a:prstGeom prst="rect">
            <a:avLst/>
          </a:prstGeom>
        </p:spPr>
        <p:txBody>
          <a:bodyPr lIns="45719" tIns="45719" rIns="45719" bIns="45719"/>
          <a:lstStyle>
            <a:lvl1pPr marL="0" indent="0" defTabSz="825500">
              <a:spcBef>
                <a:spcPts val="0"/>
              </a:spcBef>
              <a:buSzTx/>
              <a:buNone/>
              <a:defRPr sz="5500" b="1"/>
            </a:lvl1pPr>
          </a:lstStyle>
          <a:p>
            <a:r>
              <a:t>Slide Subtitle</a:t>
            </a:r>
          </a:p>
        </p:txBody>
      </p:sp>
      <p:sp>
        <p:nvSpPr>
          <p:cNvPr id="10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Agenda">
    <p:spTree>
      <p:nvGrpSpPr>
        <p:cNvPr id="1" name=""/>
        <p:cNvGrpSpPr/>
        <p:nvPr/>
      </p:nvGrpSpPr>
      <p:grpSpPr>
        <a:xfrm>
          <a:off x="0" y="0"/>
          <a:ext cx="0" cy="0"/>
          <a:chOff x="0" y="0"/>
          <a:chExt cx="0" cy="0"/>
        </a:xfrm>
      </p:grpSpPr>
      <p:sp>
        <p:nvSpPr>
          <p:cNvPr id="108" name="Agenda Title"/>
          <p:cNvSpPr txBox="1">
            <a:spLocks noGrp="1"/>
          </p:cNvSpPr>
          <p:nvPr>
            <p:ph type="title" hasCustomPrompt="1"/>
          </p:nvPr>
        </p:nvSpPr>
        <p:spPr>
          <a:xfrm>
            <a:off x="1206500" y="952500"/>
            <a:ext cx="21971000" cy="1435100"/>
          </a:xfrm>
          <a:prstGeom prst="rect">
            <a:avLst/>
          </a:prstGeom>
        </p:spPr>
        <p:txBody>
          <a:bodyPr/>
          <a:lstStyle/>
          <a:p>
            <a:r>
              <a:t>Agenda Title</a:t>
            </a:r>
          </a:p>
        </p:txBody>
      </p:sp>
      <p:sp>
        <p:nvSpPr>
          <p:cNvPr id="109" name="Agenda Subtitle"/>
          <p:cNvSpPr txBox="1">
            <a:spLocks noGrp="1"/>
          </p:cNvSpPr>
          <p:nvPr>
            <p:ph type="body" sz="quarter" idx="21" hasCustomPrompt="1"/>
          </p:nvPr>
        </p:nvSpPr>
        <p:spPr>
          <a:xfrm>
            <a:off x="1206500" y="2247900"/>
            <a:ext cx="21971000" cy="934779"/>
          </a:xfrm>
          <a:prstGeom prst="rect">
            <a:avLst/>
          </a:prstGeom>
        </p:spPr>
        <p:txBody>
          <a:bodyPr lIns="45719" tIns="45719" rIns="45719" bIns="45719"/>
          <a:lstStyle>
            <a:lvl1pPr marL="0" indent="0" defTabSz="825500">
              <a:spcBef>
                <a:spcPts val="0"/>
              </a:spcBef>
              <a:buSzTx/>
              <a:buNone/>
              <a:defRPr sz="5500" b="1"/>
            </a:lvl1pPr>
          </a:lstStyle>
          <a:p>
            <a:r>
              <a:t>Agenda Subtitle</a:t>
            </a:r>
          </a:p>
        </p:txBody>
      </p:sp>
      <p:sp>
        <p:nvSpPr>
          <p:cNvPr id="110" name="Body Level One…"/>
          <p:cNvSpPr txBox="1">
            <a:spLocks noGrp="1"/>
          </p:cNvSpPr>
          <p:nvPr>
            <p:ph type="body" idx="1" hasCustomPrompt="1"/>
          </p:nvPr>
        </p:nvSpPr>
        <p:spPr>
          <a:prstGeom prst="rect">
            <a:avLst/>
          </a:prstGeom>
        </p:spPr>
        <p:txBody>
          <a:bodyPr/>
          <a:lstStyle>
            <a:lvl1pPr marL="0" indent="0" defTabSz="825500">
              <a:spcBef>
                <a:spcPts val="1800"/>
              </a:spcBef>
              <a:buSzTx/>
              <a:buNone/>
              <a:defRPr sz="5500" spc="-55"/>
            </a:lvl1pPr>
            <a:lvl2pPr marL="0" indent="457200" defTabSz="825500">
              <a:spcBef>
                <a:spcPts val="1800"/>
              </a:spcBef>
              <a:buSzTx/>
              <a:buNone/>
              <a:defRPr sz="5500" spc="-55"/>
            </a:lvl2pPr>
            <a:lvl3pPr marL="0" indent="914400" defTabSz="825500">
              <a:spcBef>
                <a:spcPts val="1800"/>
              </a:spcBef>
              <a:buSzTx/>
              <a:buNone/>
              <a:defRPr sz="5500" spc="-55"/>
            </a:lvl3pPr>
            <a:lvl4pPr marL="0" indent="1371600" defTabSz="825500">
              <a:spcBef>
                <a:spcPts val="1800"/>
              </a:spcBef>
              <a:buSzTx/>
              <a:buNone/>
              <a:defRPr sz="5500" spc="-55"/>
            </a:lvl4pPr>
            <a:lvl5pPr marL="0" indent="1828800" defTabSz="825500">
              <a:spcBef>
                <a:spcPts val="1800"/>
              </a:spcBef>
              <a:buSzTx/>
              <a:buNone/>
              <a:defRPr sz="5500" spc="-55"/>
            </a:lvl5pPr>
          </a:lstStyle>
          <a:p>
            <a:r>
              <a:t>Agenda Topics</a:t>
            </a:r>
          </a:p>
          <a:p>
            <a:pPr lvl="1"/>
            <a:endParaRPr/>
          </a:p>
          <a:p>
            <a:pPr lvl="2"/>
            <a:endParaRPr/>
          </a:p>
          <a:p>
            <a:pPr lvl="3"/>
            <a:endParaRPr/>
          </a:p>
          <a:p>
            <a:pPr lvl="4"/>
            <a:endParaRPr/>
          </a:p>
        </p:txBody>
      </p:sp>
      <p:sp>
        <p:nvSpPr>
          <p:cNvPr id="1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Statement">
    <p:spTree>
      <p:nvGrpSpPr>
        <p:cNvPr id="1" name=""/>
        <p:cNvGrpSpPr/>
        <p:nvPr/>
      </p:nvGrpSpPr>
      <p:grpSpPr>
        <a:xfrm>
          <a:off x="0" y="0"/>
          <a:ext cx="0" cy="0"/>
          <a:chOff x="0" y="0"/>
          <a:chExt cx="0" cy="0"/>
        </a:xfrm>
      </p:grpSpPr>
      <p:sp>
        <p:nvSpPr>
          <p:cNvPr id="118" name="Body Level One…"/>
          <p:cNvSpPr txBox="1">
            <a:spLocks noGrp="1"/>
          </p:cNvSpPr>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z="11600" spc="-232">
                <a:solidFill>
                  <a:schemeClr val="accent1">
                    <a:hueOff val="114395"/>
                    <a:lumOff val="-24975"/>
                  </a:schemeClr>
                </a:solidFill>
                <a:latin typeface="Helvetica Neue Medium"/>
                <a:ea typeface="Helvetica Neue Medium"/>
                <a:cs typeface="Helvetica Neue Medium"/>
                <a:sym typeface="Helvetica Neue Medium"/>
              </a:defRPr>
            </a:lvl1pPr>
            <a:lvl2pPr marL="0" indent="457200" algn="ctr">
              <a:lnSpc>
                <a:spcPct val="80000"/>
              </a:lnSpc>
              <a:spcBef>
                <a:spcPts val="0"/>
              </a:spcBef>
              <a:buSzTx/>
              <a:buNone/>
              <a:defRPr sz="11600" spc="-232">
                <a:solidFill>
                  <a:schemeClr val="accent1">
                    <a:hueOff val="114395"/>
                    <a:lumOff val="-24975"/>
                  </a:schemeClr>
                </a:solidFill>
                <a:latin typeface="Helvetica Neue Medium"/>
                <a:ea typeface="Helvetica Neue Medium"/>
                <a:cs typeface="Helvetica Neue Medium"/>
                <a:sym typeface="Helvetica Neue Medium"/>
              </a:defRPr>
            </a:lvl2pPr>
            <a:lvl3pPr marL="0" indent="914400" algn="ctr">
              <a:lnSpc>
                <a:spcPct val="80000"/>
              </a:lnSpc>
              <a:spcBef>
                <a:spcPts val="0"/>
              </a:spcBef>
              <a:buSzTx/>
              <a:buNone/>
              <a:defRPr sz="11600" spc="-232">
                <a:solidFill>
                  <a:schemeClr val="accent1">
                    <a:hueOff val="114395"/>
                    <a:lumOff val="-24975"/>
                  </a:schemeClr>
                </a:solidFill>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z="11600" spc="-232">
                <a:solidFill>
                  <a:schemeClr val="accent1">
                    <a:hueOff val="114395"/>
                    <a:lumOff val="-24975"/>
                  </a:schemeClr>
                </a:solidFill>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z="11600" spc="-232">
                <a:solidFill>
                  <a:schemeClr val="accent1">
                    <a:hueOff val="114395"/>
                    <a:lumOff val="-24975"/>
                  </a:schemeClr>
                </a:solidFill>
                <a:latin typeface="Helvetica Neue Medium"/>
                <a:ea typeface="Helvetica Neue Medium"/>
                <a:cs typeface="Helvetica Neue Medium"/>
                <a:sym typeface="Helvetica Neue Medium"/>
              </a:defRPr>
            </a:lvl5pPr>
          </a:lstStyle>
          <a:p>
            <a:r>
              <a:t>Statement</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Big Fact">
    <p:spTree>
      <p:nvGrpSpPr>
        <p:cNvPr id="1" name=""/>
        <p:cNvGrpSpPr/>
        <p:nvPr/>
      </p:nvGrpSpPr>
      <p:grpSpPr>
        <a:xfrm>
          <a:off x="0" y="0"/>
          <a:ext cx="0" cy="0"/>
          <a:chOff x="0" y="0"/>
          <a:chExt cx="0" cy="0"/>
        </a:xfrm>
      </p:grpSpPr>
      <p:sp>
        <p:nvSpPr>
          <p:cNvPr id="126" name="Body Level One…"/>
          <p:cNvSpPr txBox="1">
            <a:spLocks noGrp="1"/>
          </p:cNvSpPr>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sz="25000" b="1" spc="-250">
                <a:solidFill>
                  <a:schemeClr val="accent1">
                    <a:hueOff val="114395"/>
                    <a:lumOff val="-24975"/>
                  </a:schemeClr>
                </a:solidFill>
              </a:defRPr>
            </a:lvl1pPr>
            <a:lvl2pPr marL="0" indent="457200" algn="ctr">
              <a:lnSpc>
                <a:spcPct val="80000"/>
              </a:lnSpc>
              <a:spcBef>
                <a:spcPts val="0"/>
              </a:spcBef>
              <a:buSzTx/>
              <a:buNone/>
              <a:defRPr sz="25000" b="1" spc="-250">
                <a:solidFill>
                  <a:schemeClr val="accent1">
                    <a:hueOff val="114395"/>
                    <a:lumOff val="-24975"/>
                  </a:schemeClr>
                </a:solidFill>
              </a:defRPr>
            </a:lvl2pPr>
            <a:lvl3pPr marL="0" indent="914400" algn="ctr">
              <a:lnSpc>
                <a:spcPct val="80000"/>
              </a:lnSpc>
              <a:spcBef>
                <a:spcPts val="0"/>
              </a:spcBef>
              <a:buSzTx/>
              <a:buNone/>
              <a:defRPr sz="25000" b="1" spc="-250">
                <a:solidFill>
                  <a:schemeClr val="accent1">
                    <a:hueOff val="114395"/>
                    <a:lumOff val="-24975"/>
                  </a:schemeClr>
                </a:solidFill>
              </a:defRPr>
            </a:lvl3pPr>
            <a:lvl4pPr marL="0" indent="1371600" algn="ctr">
              <a:lnSpc>
                <a:spcPct val="80000"/>
              </a:lnSpc>
              <a:spcBef>
                <a:spcPts val="0"/>
              </a:spcBef>
              <a:buSzTx/>
              <a:buNone/>
              <a:defRPr sz="25000" b="1" spc="-250">
                <a:solidFill>
                  <a:schemeClr val="accent1">
                    <a:hueOff val="114395"/>
                    <a:lumOff val="-24975"/>
                  </a:schemeClr>
                </a:solidFill>
              </a:defRPr>
            </a:lvl4pPr>
            <a:lvl5pPr marL="0" indent="1828800" algn="ctr">
              <a:lnSpc>
                <a:spcPct val="80000"/>
              </a:lnSpc>
              <a:spcBef>
                <a:spcPts val="0"/>
              </a:spcBef>
              <a:buSzTx/>
              <a:buNone/>
              <a:defRPr sz="25000" b="1" spc="-250">
                <a:solidFill>
                  <a:schemeClr val="accent1">
                    <a:hueOff val="114395"/>
                    <a:lumOff val="-24975"/>
                  </a:schemeClr>
                </a:solidFill>
              </a:defRPr>
            </a:lvl5pPr>
          </a:lstStyle>
          <a:p>
            <a:r>
              <a:t>100%</a:t>
            </a:r>
          </a:p>
          <a:p>
            <a:pPr lvl="1"/>
            <a:endParaRPr/>
          </a:p>
          <a:p>
            <a:pPr lvl="2"/>
            <a:endParaRPr/>
          </a:p>
          <a:p>
            <a:pPr lvl="3"/>
            <a:endParaRPr/>
          </a:p>
          <a:p>
            <a:pPr lvl="4"/>
            <a:endParaRPr/>
          </a:p>
        </p:txBody>
      </p:sp>
      <p:sp>
        <p:nvSpPr>
          <p:cNvPr id="127" name="Fact information"/>
          <p:cNvSpPr txBox="1">
            <a:spLocks noGrp="1"/>
          </p:cNvSpPr>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spcBef>
                <a:spcPts val="0"/>
              </a:spcBef>
              <a:buSzTx/>
              <a:buNone/>
              <a:defRPr sz="5500" b="1"/>
            </a:lvl1pPr>
          </a:lstStyle>
          <a:p>
            <a:r>
              <a:t>Fact information</a:t>
            </a: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35" name="Attribution"/>
          <p:cNvSpPr txBox="1">
            <a:spLocks noGrp="1"/>
          </p:cNvSpPr>
          <p:nvPr>
            <p:ph type="body" sz="quarter" idx="21" hasCustomPrompt="1"/>
          </p:nvPr>
        </p:nvSpPr>
        <p:spPr>
          <a:xfrm>
            <a:off x="2480825" y="10675453"/>
            <a:ext cx="20149252" cy="636979"/>
          </a:xfrm>
          <a:prstGeom prst="rect">
            <a:avLst/>
          </a:prstGeom>
        </p:spPr>
        <p:txBody>
          <a:bodyPr lIns="45719" tIns="45719" rIns="45719" bIns="45719"/>
          <a:lstStyle>
            <a:lvl1pPr marL="0" indent="0" defTabSz="825500">
              <a:spcBef>
                <a:spcPts val="0"/>
              </a:spcBef>
              <a:buSzTx/>
              <a:buNone/>
              <a:defRPr sz="3600" b="1"/>
            </a:lvl1pPr>
          </a:lstStyle>
          <a:p>
            <a:r>
              <a:t>Attribution</a:t>
            </a:r>
          </a:p>
        </p:txBody>
      </p:sp>
      <p:sp>
        <p:nvSpPr>
          <p:cNvPr id="136" name="Body Level One…"/>
          <p:cNvSpPr txBox="1">
            <a:spLocks noGrp="1"/>
          </p:cNvSpPr>
          <p:nvPr>
            <p:ph type="body" sz="half" idx="1" hasCustomPrompt="1"/>
          </p:nvPr>
        </p:nvSpPr>
        <p:spPr>
          <a:xfrm>
            <a:off x="1753923" y="4939860"/>
            <a:ext cx="20876154" cy="3836280"/>
          </a:xfrm>
          <a:prstGeom prst="rect">
            <a:avLst/>
          </a:prstGeom>
        </p:spPr>
        <p:txBody>
          <a:bodyPr/>
          <a:lstStyle>
            <a:lvl1pPr marL="638923" indent="-469900">
              <a:lnSpc>
                <a:spcPct val="90000"/>
              </a:lnSpc>
              <a:spcBef>
                <a:spcPts val="0"/>
              </a:spcBef>
              <a:buSzTx/>
              <a:buNone/>
              <a:defRPr sz="8500" spc="-170">
                <a:solidFill>
                  <a:schemeClr val="accent1">
                    <a:hueOff val="114395"/>
                    <a:lumOff val="-24975"/>
                  </a:schemeClr>
                </a:solidFill>
                <a:latin typeface="Helvetica Neue Medium"/>
                <a:ea typeface="Helvetica Neue Medium"/>
                <a:cs typeface="Helvetica Neue Medium"/>
                <a:sym typeface="Helvetica Neue Medium"/>
              </a:defRPr>
            </a:lvl1pPr>
            <a:lvl2pPr marL="638923" indent="-12700">
              <a:lnSpc>
                <a:spcPct val="90000"/>
              </a:lnSpc>
              <a:spcBef>
                <a:spcPts val="0"/>
              </a:spcBef>
              <a:buSzTx/>
              <a:buNone/>
              <a:defRPr sz="8500" spc="-170">
                <a:solidFill>
                  <a:schemeClr val="accent1">
                    <a:hueOff val="114395"/>
                    <a:lumOff val="-24975"/>
                  </a:schemeClr>
                </a:solidFill>
                <a:latin typeface="Helvetica Neue Medium"/>
                <a:ea typeface="Helvetica Neue Medium"/>
                <a:cs typeface="Helvetica Neue Medium"/>
                <a:sym typeface="Helvetica Neue Medium"/>
              </a:defRPr>
            </a:lvl2pPr>
            <a:lvl3pPr marL="638923" indent="444500">
              <a:lnSpc>
                <a:spcPct val="90000"/>
              </a:lnSpc>
              <a:spcBef>
                <a:spcPts val="0"/>
              </a:spcBef>
              <a:buSzTx/>
              <a:buNone/>
              <a:defRPr sz="8500" spc="-170">
                <a:solidFill>
                  <a:schemeClr val="accent1">
                    <a:hueOff val="114395"/>
                    <a:lumOff val="-24975"/>
                  </a:schemeClr>
                </a:solidFill>
                <a:latin typeface="Helvetica Neue Medium"/>
                <a:ea typeface="Helvetica Neue Medium"/>
                <a:cs typeface="Helvetica Neue Medium"/>
                <a:sym typeface="Helvetica Neue Medium"/>
              </a:defRPr>
            </a:lvl3pPr>
            <a:lvl4pPr marL="638923" indent="901700">
              <a:lnSpc>
                <a:spcPct val="90000"/>
              </a:lnSpc>
              <a:spcBef>
                <a:spcPts val="0"/>
              </a:spcBef>
              <a:buSzTx/>
              <a:buNone/>
              <a:defRPr sz="8500" spc="-170">
                <a:solidFill>
                  <a:schemeClr val="accent1">
                    <a:hueOff val="114395"/>
                    <a:lumOff val="-24975"/>
                  </a:schemeClr>
                </a:solidFill>
                <a:latin typeface="Helvetica Neue Medium"/>
                <a:ea typeface="Helvetica Neue Medium"/>
                <a:cs typeface="Helvetica Neue Medium"/>
                <a:sym typeface="Helvetica Neue Medium"/>
              </a:defRPr>
            </a:lvl4pPr>
            <a:lvl5pPr marL="638923" indent="1358900">
              <a:lnSpc>
                <a:spcPct val="90000"/>
              </a:lnSpc>
              <a:spcBef>
                <a:spcPts val="0"/>
              </a:spcBef>
              <a:buSzTx/>
              <a:buNone/>
              <a:defRPr sz="8500" spc="-170">
                <a:solidFill>
                  <a:schemeClr val="accent1">
                    <a:hueOff val="114395"/>
                    <a:lumOff val="-24975"/>
                  </a:schemeClr>
                </a:solidFill>
                <a:latin typeface="Helvetica Neue Medium"/>
                <a:ea typeface="Helvetica Neue Medium"/>
                <a:cs typeface="Helvetica Neue Medium"/>
                <a:sym typeface="Helvetica Neue Medium"/>
              </a:defRPr>
            </a:lvl5pPr>
          </a:lstStyle>
          <a:p>
            <a:r>
              <a:t>“Notable Quote”</a:t>
            </a:r>
          </a:p>
          <a:p>
            <a:pPr lvl="1"/>
            <a:endParaRPr/>
          </a:p>
          <a:p>
            <a:pPr lvl="2"/>
            <a:endParaRPr/>
          </a:p>
          <a:p>
            <a:pPr lvl="3"/>
            <a:endParaRPr/>
          </a:p>
          <a:p>
            <a:pPr lvl="4"/>
            <a:endParaRPr/>
          </a:p>
        </p:txBody>
      </p:sp>
      <p:sp>
        <p:nvSpPr>
          <p:cNvPr id="13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44" name="Hot-air balloons viewed from below against a blue sky"/>
          <p:cNvSpPr>
            <a:spLocks noGrp="1"/>
          </p:cNvSpPr>
          <p:nvPr>
            <p:ph type="pic" sz="quarter" idx="21"/>
          </p:nvPr>
        </p:nvSpPr>
        <p:spPr>
          <a:xfrm>
            <a:off x="15436504" y="1270000"/>
            <a:ext cx="8167167" cy="5422900"/>
          </a:xfrm>
          <a:prstGeom prst="rect">
            <a:avLst/>
          </a:prstGeom>
        </p:spPr>
        <p:txBody>
          <a:bodyPr lIns="91439" tIns="45719" rIns="91439" bIns="45719">
            <a:noAutofit/>
          </a:bodyPr>
          <a:lstStyle/>
          <a:p>
            <a:endParaRPr/>
          </a:p>
        </p:txBody>
      </p:sp>
      <p:sp>
        <p:nvSpPr>
          <p:cNvPr id="145" name="Close-up of the top of a hot-air balloon viewed from above"/>
          <p:cNvSpPr>
            <a:spLocks noGrp="1"/>
          </p:cNvSpPr>
          <p:nvPr>
            <p:ph type="pic" sz="quarter" idx="22"/>
          </p:nvPr>
        </p:nvSpPr>
        <p:spPr>
          <a:xfrm>
            <a:off x="15461772" y="7085972"/>
            <a:ext cx="8148414" cy="5432276"/>
          </a:xfrm>
          <a:prstGeom prst="rect">
            <a:avLst/>
          </a:prstGeom>
        </p:spPr>
        <p:txBody>
          <a:bodyPr lIns="91439" tIns="45719" rIns="91439" bIns="45719">
            <a:noAutofit/>
          </a:bodyPr>
          <a:lstStyle/>
          <a:p>
            <a:endParaRPr/>
          </a:p>
        </p:txBody>
      </p:sp>
      <p:sp>
        <p:nvSpPr>
          <p:cNvPr id="146" name="Hot-air balloons viewed from below against a blue sky"/>
          <p:cNvSpPr>
            <a:spLocks noGrp="1"/>
          </p:cNvSpPr>
          <p:nvPr>
            <p:ph type="pic" idx="23"/>
          </p:nvPr>
        </p:nvSpPr>
        <p:spPr>
          <a:xfrm>
            <a:off x="-124635" y="1270000"/>
            <a:ext cx="16859219" cy="11239479"/>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54" name="Hot-air balloons viewed from below against a blue sky"/>
          <p:cNvSpPr>
            <a:spLocks noGrp="1"/>
          </p:cNvSpPr>
          <p:nvPr>
            <p:ph type="pic" idx="21"/>
          </p:nvPr>
        </p:nvSpPr>
        <p:spPr>
          <a:xfrm>
            <a:off x="0" y="-1270000"/>
            <a:ext cx="24384000" cy="16256000"/>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6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952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Slide bullet text</a:t>
            </a:r>
          </a:p>
          <a:p>
            <a:pPr lvl="1"/>
            <a:endParaRPr/>
          </a:p>
          <a:p>
            <a:pPr lvl="2"/>
            <a:endParaRPr/>
          </a:p>
          <a:p>
            <a:pPr lvl="3"/>
            <a:endParaRPr/>
          </a:p>
          <a:p>
            <a:pPr lvl="4"/>
            <a:endParaRPr/>
          </a:p>
        </p:txBody>
      </p:sp>
      <p:sp>
        <p:nvSpPr>
          <p:cNvPr id="4" name="Slide Number"/>
          <p:cNvSpPr txBox="1">
            <a:spLocks noGrp="1"/>
          </p:cNvSpPr>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spcBef>
                <a:spcPts val="0"/>
              </a:spcBef>
              <a:defRPr sz="18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ransition spd="med"/>
  <p:txStyles>
    <p:titleStyle>
      <a:lvl1pPr marL="0" marR="0" indent="0" algn="l" defTabSz="2438338" rtl="0" latinLnBrk="0">
        <a:lnSpc>
          <a:spcPct val="80000"/>
        </a:lnSpc>
        <a:spcBef>
          <a:spcPts val="0"/>
        </a:spcBef>
        <a:spcAft>
          <a:spcPts val="0"/>
        </a:spcAft>
        <a:buClrTx/>
        <a:buSzTx/>
        <a:buFontTx/>
        <a:buNone/>
        <a:tabLst/>
        <a:defRPr sz="8500" b="1" i="0" u="none" strike="noStrike" cap="none" spc="-170" baseline="0">
          <a:solidFill>
            <a:schemeClr val="accent1">
              <a:hueOff val="114395"/>
              <a:lumOff val="-24975"/>
            </a:schemeClr>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sz="8500" b="1" i="0" u="none" strike="noStrike" cap="none" spc="-170" baseline="0">
          <a:solidFill>
            <a:schemeClr val="accent1">
              <a:hueOff val="114395"/>
              <a:lumOff val="-24975"/>
            </a:schemeClr>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sz="8500" b="1" i="0" u="none" strike="noStrike" cap="none" spc="-170" baseline="0">
          <a:solidFill>
            <a:schemeClr val="accent1">
              <a:hueOff val="114395"/>
              <a:lumOff val="-24975"/>
            </a:schemeClr>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sz="8500" b="1" i="0" u="none" strike="noStrike" cap="none" spc="-170" baseline="0">
          <a:solidFill>
            <a:schemeClr val="accent1">
              <a:hueOff val="114395"/>
              <a:lumOff val="-24975"/>
            </a:schemeClr>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sz="8500" b="1" i="0" u="none" strike="noStrike" cap="none" spc="-170" baseline="0">
          <a:solidFill>
            <a:schemeClr val="accent1">
              <a:hueOff val="114395"/>
              <a:lumOff val="-24975"/>
            </a:schemeClr>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sz="8500" b="1" i="0" u="none" strike="noStrike" cap="none" spc="-170" baseline="0">
          <a:solidFill>
            <a:schemeClr val="accent1">
              <a:hueOff val="114395"/>
              <a:lumOff val="-24975"/>
            </a:schemeClr>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sz="8500" b="1" i="0" u="none" strike="noStrike" cap="none" spc="-170" baseline="0">
          <a:solidFill>
            <a:schemeClr val="accent1">
              <a:hueOff val="114395"/>
              <a:lumOff val="-24975"/>
            </a:schemeClr>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sz="8500" b="1" i="0" u="none" strike="noStrike" cap="none" spc="-170" baseline="0">
          <a:solidFill>
            <a:schemeClr val="accent1">
              <a:hueOff val="114395"/>
              <a:lumOff val="-24975"/>
            </a:schemeClr>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sz="8500" b="1" i="0" u="none" strike="noStrike" cap="none" spc="-170" baseline="0">
          <a:solidFill>
            <a:schemeClr val="accent1">
              <a:hueOff val="114395"/>
              <a:lumOff val="-24975"/>
            </a:schemeClr>
          </a:solidFill>
          <a:uFillTx/>
          <a:latin typeface="+mn-lt"/>
          <a:ea typeface="+mn-ea"/>
          <a:cs typeface="+mn-cs"/>
          <a:sym typeface="Helvetica Neue"/>
        </a:defRPr>
      </a:lvl9pPr>
    </p:titleStyle>
    <p:bodyStyle>
      <a:lvl1pPr marL="609600" marR="0" indent="-609600" algn="l" defTabSz="2438338" rtl="0" latinLnBrk="0">
        <a:lnSpc>
          <a:spcPct val="10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1pPr>
      <a:lvl2pPr marL="1219200" marR="0" indent="-609600" algn="l" defTabSz="2438338" rtl="0" latinLnBrk="0">
        <a:lnSpc>
          <a:spcPct val="10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latinLnBrk="0">
        <a:lnSpc>
          <a:spcPct val="10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latinLnBrk="0">
        <a:lnSpc>
          <a:spcPct val="10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latinLnBrk="0">
        <a:lnSpc>
          <a:spcPct val="10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latinLnBrk="0">
        <a:lnSpc>
          <a:spcPct val="10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latinLnBrk="0">
        <a:lnSpc>
          <a:spcPct val="10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latinLnBrk="0">
        <a:lnSpc>
          <a:spcPct val="10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latinLnBrk="0">
        <a:lnSpc>
          <a:spcPct val="10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hyperlink" Target="https://www.kaggle.com/datasets/thedevastator/cancer-patients-and-air-pollution-a-new-link" TargetMode="Externa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Manav, Baskaran, Ashok"/>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t>Manav, Baskaran, Ashok</a:t>
            </a:r>
          </a:p>
        </p:txBody>
      </p:sp>
      <p:sp>
        <p:nvSpPr>
          <p:cNvPr id="172" name="Lung Cancer Prediction"/>
          <p:cNvSpPr txBox="1">
            <a:spLocks noGrp="1"/>
          </p:cNvSpPr>
          <p:nvPr>
            <p:ph type="ctrTitle"/>
          </p:nvPr>
        </p:nvSpPr>
        <p:spPr>
          <a:prstGeom prst="rect">
            <a:avLst/>
          </a:prstGeom>
        </p:spPr>
        <p:txBody>
          <a:bodyPr/>
          <a:lstStyle/>
          <a:p>
            <a:r>
              <a:t>Lung Cancer Prediction</a:t>
            </a:r>
          </a:p>
        </p:txBody>
      </p:sp>
      <p:sp>
        <p:nvSpPr>
          <p:cNvPr id="173" name="Mining Mavericks"/>
          <p:cNvSpPr txBox="1">
            <a:spLocks noGrp="1"/>
          </p:cNvSpPr>
          <p:nvPr>
            <p:ph type="subTitle" sz="quarter" idx="1"/>
          </p:nvPr>
        </p:nvSpPr>
        <p:spPr>
          <a:prstGeom prst="rect">
            <a:avLst/>
          </a:prstGeom>
        </p:spPr>
        <p:txBody>
          <a:bodyPr/>
          <a:lstStyle/>
          <a:p>
            <a:r>
              <a:t>Mining Mavericks</a:t>
            </a:r>
          </a:p>
        </p:txBody>
      </p:sp>
      <p:sp>
        <p:nvSpPr>
          <p:cNvPr id="174" name="Course: Data Mining…"/>
          <p:cNvSpPr txBox="1"/>
          <p:nvPr/>
        </p:nvSpPr>
        <p:spPr>
          <a:xfrm>
            <a:off x="1122416" y="8483261"/>
            <a:ext cx="8650635" cy="21038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defRPr>
                <a:solidFill>
                  <a:srgbClr val="FFFFFF"/>
                </a:solidFill>
              </a:defRPr>
            </a:pPr>
            <a:r>
              <a:t>Course: Data Mining</a:t>
            </a:r>
          </a:p>
          <a:p>
            <a:pPr>
              <a:defRPr>
                <a:solidFill>
                  <a:srgbClr val="FFFFFF"/>
                </a:solidFill>
              </a:defRPr>
            </a:pPr>
            <a:r>
              <a:t>Professor: Dr. Mina Maleki</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Introduction…"/>
          <p:cNvSpPr txBox="1">
            <a:spLocks noGrp="1"/>
          </p:cNvSpPr>
          <p:nvPr>
            <p:ph type="body" idx="1"/>
          </p:nvPr>
        </p:nvSpPr>
        <p:spPr>
          <a:prstGeom prst="rect">
            <a:avLst/>
          </a:prstGeom>
        </p:spPr>
        <p:txBody>
          <a:bodyPr/>
          <a:lstStyle/>
          <a:p>
            <a:r>
              <a:t>Introduction</a:t>
            </a:r>
          </a:p>
          <a:p>
            <a:r>
              <a:t>Dataset Visualization</a:t>
            </a:r>
          </a:p>
          <a:p>
            <a:r>
              <a:t>Data Pre-processing</a:t>
            </a:r>
          </a:p>
          <a:p>
            <a:r>
              <a:t>Model selection</a:t>
            </a:r>
          </a:p>
          <a:p>
            <a:r>
              <a:t>Model Evaluation</a:t>
            </a:r>
          </a:p>
          <a:p>
            <a:r>
              <a:t>Conclusion</a:t>
            </a:r>
          </a:p>
        </p:txBody>
      </p:sp>
      <p:sp>
        <p:nvSpPr>
          <p:cNvPr id="177" name="Content"/>
          <p:cNvSpPr txBox="1"/>
          <p:nvPr/>
        </p:nvSpPr>
        <p:spPr>
          <a:xfrm>
            <a:off x="1194844" y="2928968"/>
            <a:ext cx="2293621" cy="8084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Content</a:t>
            </a:r>
          </a:p>
        </p:txBody>
      </p:sp>
      <p:sp>
        <p:nvSpPr>
          <p:cNvPr id="178" name="Slide Number"/>
          <p:cNvSpPr txBox="1">
            <a:spLocks noGrp="1"/>
          </p:cNvSpPr>
          <p:nvPr>
            <p:ph type="sldNum" sz="quarter" idx="4294967295"/>
          </p:nvPr>
        </p:nvSpPr>
        <p:spPr>
          <a:xfrm>
            <a:off x="12065050" y="13080999"/>
            <a:ext cx="241403" cy="3746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a:t>
            </a:fld>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Introduction"/>
          <p:cNvSpPr txBox="1">
            <a:spLocks noGrp="1"/>
          </p:cNvSpPr>
          <p:nvPr>
            <p:ph type="title"/>
          </p:nvPr>
        </p:nvSpPr>
        <p:spPr>
          <a:prstGeom prst="rect">
            <a:avLst/>
          </a:prstGeom>
        </p:spPr>
        <p:txBody>
          <a:bodyPr/>
          <a:lstStyle/>
          <a:p>
            <a:r>
              <a:t>Introduction</a:t>
            </a:r>
          </a:p>
        </p:txBody>
      </p:sp>
      <p:sp>
        <p:nvSpPr>
          <p:cNvPr id="181" name="Lung cancer is one of the deadliest cancers, and its early detection is essential for better survival rates. The following study will develop a machine learning model to predict the risk of lung cancer by considering several risk factors like age, gender"/>
          <p:cNvSpPr txBox="1">
            <a:spLocks noGrp="1"/>
          </p:cNvSpPr>
          <p:nvPr>
            <p:ph type="body" idx="1"/>
          </p:nvPr>
        </p:nvSpPr>
        <p:spPr>
          <a:xfrm>
            <a:off x="1206500" y="2931673"/>
            <a:ext cx="21971000" cy="9572843"/>
          </a:xfrm>
          <a:prstGeom prst="rect">
            <a:avLst/>
          </a:prstGeom>
        </p:spPr>
        <p:txBody>
          <a:bodyPr/>
          <a:lstStyle/>
          <a:p>
            <a:pPr marL="330200" indent="-330200" defTabSz="355600">
              <a:spcBef>
                <a:spcPts val="0"/>
              </a:spcBef>
            </a:pPr>
            <a:r>
              <a:t>Lung cancer is one of the deadliest cancers, and its early detection is essential for better survival rates. The following study will develop a machine learning model to predict the risk of lung cancer by considering several risk factors like age, gender, smoking habits, blood coughing, and chest pain, thus aiding medical professionals in prioritizing high-risk patients for diagnostic tests on time. </a:t>
            </a:r>
          </a:p>
          <a:p>
            <a:pPr marL="330200" indent="-330200" defTabSz="355600">
              <a:spcBef>
                <a:spcPts val="0"/>
              </a:spcBef>
            </a:pPr>
            <a:r>
              <a:t>Using a dataset comprising 1,000 samples and 26 attributes, data preprocessing treated missing values and scaled numerical variables to prepare the data for analysis. </a:t>
            </a:r>
          </a:p>
          <a:p>
            <a:pPr marL="330200" indent="-330200" defTabSz="355600">
              <a:spcBef>
                <a:spcPts val="0"/>
              </a:spcBef>
            </a:pPr>
            <a:r>
              <a:t>The algorithms used for classification, such as Random Forest, Decision Tree, and Logistic Regression, were compared based on the metrics of precision, recall, accuracy, and F1 score.</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iterate type="lt">
                                    <p:tmAbs val="0"/>
                                  </p:iterate>
                                  <p:childTnLst>
                                    <p:set>
                                      <p:cBhvr>
                                        <p:cTn id="6" fill="hold"/>
                                        <p:tgtEl>
                                          <p:spTgt spid="181">
                                            <p:bg/>
                                          </p:spTgt>
                                        </p:tgtEl>
                                        <p:attrNameLst>
                                          <p:attrName>style.visibility</p:attrName>
                                        </p:attrNameLst>
                                      </p:cBhvr>
                                      <p:to>
                                        <p:strVal val="visible"/>
                                      </p:to>
                                    </p:set>
                                    <p:anim calcmode="lin" valueType="num">
                                      <p:cBhvr>
                                        <p:cTn id="7" dur="1000" fill="hold"/>
                                        <p:tgtEl>
                                          <p:spTgt spid="181">
                                            <p:bg/>
                                          </p:spTgt>
                                        </p:tgtEl>
                                        <p:attrNameLst>
                                          <p:attrName>ppt_x</p:attrName>
                                        </p:attrNameLst>
                                      </p:cBhvr>
                                      <p:tavLst>
                                        <p:tav tm="0">
                                          <p:val>
                                            <p:strVal val="0-#ppt_w/2"/>
                                          </p:val>
                                        </p:tav>
                                        <p:tav tm="100000">
                                          <p:val>
                                            <p:strVal val="#ppt_x"/>
                                          </p:val>
                                        </p:tav>
                                      </p:tavLst>
                                    </p:anim>
                                    <p:anim calcmode="lin" valueType="num">
                                      <p:cBhvr>
                                        <p:cTn id="8" dur="1000" fill="hold"/>
                                        <p:tgtEl>
                                          <p:spTgt spid="181">
                                            <p:bg/>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iterate type="lt">
                                    <p:tmAbs val="0"/>
                                  </p:iterate>
                                  <p:childTnLst>
                                    <p:set>
                                      <p:cBhvr>
                                        <p:cTn id="10" fill="hold"/>
                                        <p:tgtEl>
                                          <p:spTgt spid="181">
                                            <p:txEl>
                                              <p:pRg st="0" end="0"/>
                                            </p:txEl>
                                          </p:spTgt>
                                        </p:tgtEl>
                                        <p:attrNameLst>
                                          <p:attrName>style.visibility</p:attrName>
                                        </p:attrNameLst>
                                      </p:cBhvr>
                                      <p:to>
                                        <p:strVal val="visible"/>
                                      </p:to>
                                    </p:set>
                                    <p:anim calcmode="lin" valueType="num">
                                      <p:cBhvr>
                                        <p:cTn id="11" dur="1000" fill="hold"/>
                                        <p:tgtEl>
                                          <p:spTgt spid="181">
                                            <p:txEl>
                                              <p:pRg st="0" end="0"/>
                                            </p:txEl>
                                          </p:spTgt>
                                        </p:tgtEl>
                                        <p:attrNameLst>
                                          <p:attrName>ppt_x</p:attrName>
                                        </p:attrNameLst>
                                      </p:cBhvr>
                                      <p:tavLst>
                                        <p:tav tm="0">
                                          <p:val>
                                            <p:strVal val="0-#ppt_w/2"/>
                                          </p:val>
                                        </p:tav>
                                        <p:tav tm="100000">
                                          <p:val>
                                            <p:strVal val="#ppt_x"/>
                                          </p:val>
                                        </p:tav>
                                      </p:tavLst>
                                    </p:anim>
                                    <p:anim calcmode="lin" valueType="num">
                                      <p:cBhvr>
                                        <p:cTn id="12" dur="1000" fill="hold"/>
                                        <p:tgtEl>
                                          <p:spTgt spid="18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iterate type="lt">
                                    <p:tmAbs val="0"/>
                                  </p:iterate>
                                  <p:childTnLst>
                                    <p:set>
                                      <p:cBhvr>
                                        <p:cTn id="16" fill="hold"/>
                                        <p:tgtEl>
                                          <p:spTgt spid="181">
                                            <p:txEl>
                                              <p:pRg st="1" end="1"/>
                                            </p:txEl>
                                          </p:spTgt>
                                        </p:tgtEl>
                                        <p:attrNameLst>
                                          <p:attrName>style.visibility</p:attrName>
                                        </p:attrNameLst>
                                      </p:cBhvr>
                                      <p:to>
                                        <p:strVal val="visible"/>
                                      </p:to>
                                    </p:set>
                                    <p:anim calcmode="lin" valueType="num">
                                      <p:cBhvr>
                                        <p:cTn id="17" dur="1000" fill="hold"/>
                                        <p:tgtEl>
                                          <p:spTgt spid="181">
                                            <p:txEl>
                                              <p:pRg st="1" end="1"/>
                                            </p:txEl>
                                          </p:spTgt>
                                        </p:tgtEl>
                                        <p:attrNameLst>
                                          <p:attrName>ppt_x</p:attrName>
                                        </p:attrNameLst>
                                      </p:cBhvr>
                                      <p:tavLst>
                                        <p:tav tm="0">
                                          <p:val>
                                            <p:strVal val="0-#ppt_w/2"/>
                                          </p:val>
                                        </p:tav>
                                        <p:tav tm="100000">
                                          <p:val>
                                            <p:strVal val="#ppt_x"/>
                                          </p:val>
                                        </p:tav>
                                      </p:tavLst>
                                    </p:anim>
                                    <p:anim calcmode="lin" valueType="num">
                                      <p:cBhvr>
                                        <p:cTn id="18" dur="1000" fill="hold"/>
                                        <p:tgtEl>
                                          <p:spTgt spid="18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iterate type="lt">
                                    <p:tmAbs val="0"/>
                                  </p:iterate>
                                  <p:childTnLst>
                                    <p:set>
                                      <p:cBhvr>
                                        <p:cTn id="22" fill="hold"/>
                                        <p:tgtEl>
                                          <p:spTgt spid="181">
                                            <p:txEl>
                                              <p:pRg st="2" end="2"/>
                                            </p:txEl>
                                          </p:spTgt>
                                        </p:tgtEl>
                                        <p:attrNameLst>
                                          <p:attrName>style.visibility</p:attrName>
                                        </p:attrNameLst>
                                      </p:cBhvr>
                                      <p:to>
                                        <p:strVal val="visible"/>
                                      </p:to>
                                    </p:set>
                                    <p:anim calcmode="lin" valueType="num">
                                      <p:cBhvr>
                                        <p:cTn id="23" dur="1000" fill="hold"/>
                                        <p:tgtEl>
                                          <p:spTgt spid="181">
                                            <p:txEl>
                                              <p:pRg st="2" end="2"/>
                                            </p:txEl>
                                          </p:spTgt>
                                        </p:tgtEl>
                                        <p:attrNameLst>
                                          <p:attrName>ppt_x</p:attrName>
                                        </p:attrNameLst>
                                      </p:cBhvr>
                                      <p:tavLst>
                                        <p:tav tm="0">
                                          <p:val>
                                            <p:strVal val="0-#ppt_w/2"/>
                                          </p:val>
                                        </p:tav>
                                        <p:tav tm="100000">
                                          <p:val>
                                            <p:strVal val="#ppt_x"/>
                                          </p:val>
                                        </p:tav>
                                      </p:tavLst>
                                    </p:anim>
                                    <p:anim calcmode="lin" valueType="num">
                                      <p:cBhvr>
                                        <p:cTn id="24" dur="1000" fill="hold"/>
                                        <p:tgtEl>
                                          <p:spTgt spid="181">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 grpId="0" build="p" bldLvl="5" animBg="1" advAuto="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Our dataset is a balanced one, as we can see, each class label has a similar number of samples:…"/>
          <p:cNvSpPr txBox="1">
            <a:spLocks noGrp="1"/>
          </p:cNvSpPr>
          <p:nvPr>
            <p:ph type="body" sz="half" idx="1"/>
          </p:nvPr>
        </p:nvSpPr>
        <p:spPr>
          <a:xfrm>
            <a:off x="1206500" y="2916096"/>
            <a:ext cx="9779000" cy="9589038"/>
          </a:xfrm>
          <a:prstGeom prst="rect">
            <a:avLst/>
          </a:prstGeom>
        </p:spPr>
        <p:txBody>
          <a:bodyPr/>
          <a:lstStyle/>
          <a:p>
            <a:r>
              <a:t>Our dataset is a balanced one, as we can see, each class label has a similar number of samples: </a:t>
            </a:r>
          </a:p>
          <a:p>
            <a:pPr lvl="2"/>
            <a:r>
              <a:t>Low: 300 samples</a:t>
            </a:r>
          </a:p>
          <a:p>
            <a:pPr lvl="2"/>
            <a:r>
              <a:t>Medium: 330 samples</a:t>
            </a:r>
          </a:p>
          <a:p>
            <a:pPr lvl="2"/>
            <a:r>
              <a:t>High: 350 samples</a:t>
            </a:r>
          </a:p>
        </p:txBody>
      </p:sp>
      <p:pic>
        <p:nvPicPr>
          <p:cNvPr id="184" name="Screenshot 2024-11-19 at 5.43.58 PM.png" descr="Screenshot 2024-11-19 at 5.43.58 PM.png"/>
          <p:cNvPicPr>
            <a:picLocks noGrp="1" noChangeAspect="1"/>
          </p:cNvPicPr>
          <p:nvPr>
            <p:ph type="pic" idx="22"/>
          </p:nvPr>
        </p:nvPicPr>
        <p:blipFill>
          <a:blip r:embed="rId2"/>
          <a:srcRect/>
          <a:stretch>
            <a:fillRect/>
          </a:stretch>
        </p:blipFill>
        <p:spPr>
          <a:xfrm>
            <a:off x="12192000" y="3244948"/>
            <a:ext cx="10916874" cy="7226005"/>
          </a:xfrm>
          <a:prstGeom prst="rect">
            <a:avLst/>
          </a:prstGeom>
        </p:spPr>
      </p:pic>
      <p:sp>
        <p:nvSpPr>
          <p:cNvPr id="185" name="Data Visualization"/>
          <p:cNvSpPr txBox="1">
            <a:spLocks noGrp="1"/>
          </p:cNvSpPr>
          <p:nvPr>
            <p:ph type="title"/>
          </p:nvPr>
        </p:nvSpPr>
        <p:spPr>
          <a:prstGeom prst="rect">
            <a:avLst/>
          </a:prstGeom>
        </p:spPr>
        <p:txBody>
          <a:bodyPr/>
          <a:lstStyle/>
          <a:p>
            <a:r>
              <a:t>Data Visualization </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iterate>
                                    <p:tmAbs val="0"/>
                                  </p:iterate>
                                  <p:childTnLst>
                                    <p:set>
                                      <p:cBhvr>
                                        <p:cTn id="6" fill="hold"/>
                                        <p:tgtEl>
                                          <p:spTgt spid="184"/>
                                        </p:tgtEl>
                                        <p:attrNameLst>
                                          <p:attrName>style.visibility</p:attrName>
                                        </p:attrNameLst>
                                      </p:cBhvr>
                                      <p:to>
                                        <p:strVal val="visible"/>
                                      </p:to>
                                    </p:set>
                                    <p:anim calcmode="lin" valueType="num">
                                      <p:cBhvr>
                                        <p:cTn id="7" dur="1000" fill="hold"/>
                                        <p:tgtEl>
                                          <p:spTgt spid="184"/>
                                        </p:tgtEl>
                                        <p:attrNameLst>
                                          <p:attrName>ppt_w</p:attrName>
                                        </p:attrNameLst>
                                      </p:cBhvr>
                                      <p:tavLst>
                                        <p:tav tm="0">
                                          <p:val>
                                            <p:fltVal val="0"/>
                                          </p:val>
                                        </p:tav>
                                        <p:tav tm="100000">
                                          <p:val>
                                            <p:strVal val="#ppt_w"/>
                                          </p:val>
                                        </p:tav>
                                      </p:tavLst>
                                    </p:anim>
                                    <p:anim calcmode="lin" valueType="num">
                                      <p:cBhvr>
                                        <p:cTn id="8" dur="1000" fill="hold"/>
                                        <p:tgtEl>
                                          <p:spTgt spid="184"/>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iterate type="lt">
                                    <p:tmAbs val="0"/>
                                  </p:iterate>
                                  <p:childTnLst>
                                    <p:set>
                                      <p:cBhvr>
                                        <p:cTn id="12" fill="hold"/>
                                        <p:tgtEl>
                                          <p:spTgt spid="183">
                                            <p:bg/>
                                          </p:spTgt>
                                        </p:tgtEl>
                                        <p:attrNameLst>
                                          <p:attrName>style.visibility</p:attrName>
                                        </p:attrNameLst>
                                      </p:cBhvr>
                                      <p:to>
                                        <p:strVal val="visible"/>
                                      </p:to>
                                    </p:set>
                                    <p:anim calcmode="lin" valueType="num">
                                      <p:cBhvr>
                                        <p:cTn id="13" dur="1000" fill="hold"/>
                                        <p:tgtEl>
                                          <p:spTgt spid="183">
                                            <p:bg/>
                                          </p:spTgt>
                                        </p:tgtEl>
                                        <p:attrNameLst>
                                          <p:attrName>ppt_x</p:attrName>
                                        </p:attrNameLst>
                                      </p:cBhvr>
                                      <p:tavLst>
                                        <p:tav tm="0">
                                          <p:val>
                                            <p:strVal val="0-#ppt_w/2"/>
                                          </p:val>
                                        </p:tav>
                                        <p:tav tm="100000">
                                          <p:val>
                                            <p:strVal val="#ppt_x"/>
                                          </p:val>
                                        </p:tav>
                                      </p:tavLst>
                                    </p:anim>
                                    <p:anim calcmode="lin" valueType="num">
                                      <p:cBhvr>
                                        <p:cTn id="14" dur="1000" fill="hold"/>
                                        <p:tgtEl>
                                          <p:spTgt spid="183">
                                            <p:bg/>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iterate type="lt">
                                    <p:tmAbs val="0"/>
                                  </p:iterate>
                                  <p:childTnLst>
                                    <p:set>
                                      <p:cBhvr>
                                        <p:cTn id="16" fill="hold"/>
                                        <p:tgtEl>
                                          <p:spTgt spid="183">
                                            <p:txEl>
                                              <p:pRg st="0" end="0"/>
                                            </p:txEl>
                                          </p:spTgt>
                                        </p:tgtEl>
                                        <p:attrNameLst>
                                          <p:attrName>style.visibility</p:attrName>
                                        </p:attrNameLst>
                                      </p:cBhvr>
                                      <p:to>
                                        <p:strVal val="visible"/>
                                      </p:to>
                                    </p:set>
                                    <p:anim calcmode="lin" valueType="num">
                                      <p:cBhvr>
                                        <p:cTn id="17" dur="1000" fill="hold"/>
                                        <p:tgtEl>
                                          <p:spTgt spid="183">
                                            <p:txEl>
                                              <p:pRg st="0" end="0"/>
                                            </p:txEl>
                                          </p:spTgt>
                                        </p:tgtEl>
                                        <p:attrNameLst>
                                          <p:attrName>ppt_x</p:attrName>
                                        </p:attrNameLst>
                                      </p:cBhvr>
                                      <p:tavLst>
                                        <p:tav tm="0">
                                          <p:val>
                                            <p:strVal val="0-#ppt_w/2"/>
                                          </p:val>
                                        </p:tav>
                                        <p:tav tm="100000">
                                          <p:val>
                                            <p:strVal val="#ppt_x"/>
                                          </p:val>
                                        </p:tav>
                                      </p:tavLst>
                                    </p:anim>
                                    <p:anim calcmode="lin" valueType="num">
                                      <p:cBhvr>
                                        <p:cTn id="18" dur="1000" fill="hold"/>
                                        <p:tgtEl>
                                          <p:spTgt spid="1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iterate type="lt">
                                    <p:tmAbs val="0"/>
                                  </p:iterate>
                                  <p:childTnLst>
                                    <p:set>
                                      <p:cBhvr>
                                        <p:cTn id="22" fill="hold"/>
                                        <p:tgtEl>
                                          <p:spTgt spid="183">
                                            <p:txEl>
                                              <p:pRg st="1" end="1"/>
                                            </p:txEl>
                                          </p:spTgt>
                                        </p:tgtEl>
                                        <p:attrNameLst>
                                          <p:attrName>style.visibility</p:attrName>
                                        </p:attrNameLst>
                                      </p:cBhvr>
                                      <p:to>
                                        <p:strVal val="visible"/>
                                      </p:to>
                                    </p:set>
                                    <p:anim calcmode="lin" valueType="num">
                                      <p:cBhvr>
                                        <p:cTn id="23" dur="1000" fill="hold"/>
                                        <p:tgtEl>
                                          <p:spTgt spid="183">
                                            <p:txEl>
                                              <p:pRg st="1" end="1"/>
                                            </p:txEl>
                                          </p:spTgt>
                                        </p:tgtEl>
                                        <p:attrNameLst>
                                          <p:attrName>ppt_x</p:attrName>
                                        </p:attrNameLst>
                                      </p:cBhvr>
                                      <p:tavLst>
                                        <p:tav tm="0">
                                          <p:val>
                                            <p:strVal val="0-#ppt_w/2"/>
                                          </p:val>
                                        </p:tav>
                                        <p:tav tm="100000">
                                          <p:val>
                                            <p:strVal val="#ppt_x"/>
                                          </p:val>
                                        </p:tav>
                                      </p:tavLst>
                                    </p:anim>
                                    <p:anim calcmode="lin" valueType="num">
                                      <p:cBhvr>
                                        <p:cTn id="24" dur="1000" fill="hold"/>
                                        <p:tgtEl>
                                          <p:spTgt spid="1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iterate type="lt">
                                    <p:tmAbs val="0"/>
                                  </p:iterate>
                                  <p:childTnLst>
                                    <p:set>
                                      <p:cBhvr>
                                        <p:cTn id="28" fill="hold"/>
                                        <p:tgtEl>
                                          <p:spTgt spid="183">
                                            <p:txEl>
                                              <p:pRg st="2" end="2"/>
                                            </p:txEl>
                                          </p:spTgt>
                                        </p:tgtEl>
                                        <p:attrNameLst>
                                          <p:attrName>style.visibility</p:attrName>
                                        </p:attrNameLst>
                                      </p:cBhvr>
                                      <p:to>
                                        <p:strVal val="visible"/>
                                      </p:to>
                                    </p:set>
                                    <p:anim calcmode="lin" valueType="num">
                                      <p:cBhvr>
                                        <p:cTn id="29" dur="1000" fill="hold"/>
                                        <p:tgtEl>
                                          <p:spTgt spid="183">
                                            <p:txEl>
                                              <p:pRg st="2" end="2"/>
                                            </p:txEl>
                                          </p:spTgt>
                                        </p:tgtEl>
                                        <p:attrNameLst>
                                          <p:attrName>ppt_x</p:attrName>
                                        </p:attrNameLst>
                                      </p:cBhvr>
                                      <p:tavLst>
                                        <p:tav tm="0">
                                          <p:val>
                                            <p:strVal val="0-#ppt_w/2"/>
                                          </p:val>
                                        </p:tav>
                                        <p:tav tm="100000">
                                          <p:val>
                                            <p:strVal val="#ppt_x"/>
                                          </p:val>
                                        </p:tav>
                                      </p:tavLst>
                                    </p:anim>
                                    <p:anim calcmode="lin" valueType="num">
                                      <p:cBhvr>
                                        <p:cTn id="30" dur="1000" fill="hold"/>
                                        <p:tgtEl>
                                          <p:spTgt spid="18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iterate type="lt">
                                    <p:tmAbs val="0"/>
                                  </p:iterate>
                                  <p:childTnLst>
                                    <p:set>
                                      <p:cBhvr>
                                        <p:cTn id="34" fill="hold"/>
                                        <p:tgtEl>
                                          <p:spTgt spid="183">
                                            <p:txEl>
                                              <p:pRg st="3" end="3"/>
                                            </p:txEl>
                                          </p:spTgt>
                                        </p:tgtEl>
                                        <p:attrNameLst>
                                          <p:attrName>style.visibility</p:attrName>
                                        </p:attrNameLst>
                                      </p:cBhvr>
                                      <p:to>
                                        <p:strVal val="visible"/>
                                      </p:to>
                                    </p:set>
                                    <p:anim calcmode="lin" valueType="num">
                                      <p:cBhvr>
                                        <p:cTn id="35" dur="1000" fill="hold"/>
                                        <p:tgtEl>
                                          <p:spTgt spid="183">
                                            <p:txEl>
                                              <p:pRg st="3" end="3"/>
                                            </p:txEl>
                                          </p:spTgt>
                                        </p:tgtEl>
                                        <p:attrNameLst>
                                          <p:attrName>ppt_x</p:attrName>
                                        </p:attrNameLst>
                                      </p:cBhvr>
                                      <p:tavLst>
                                        <p:tav tm="0">
                                          <p:val>
                                            <p:strVal val="0-#ppt_w/2"/>
                                          </p:val>
                                        </p:tav>
                                        <p:tav tm="100000">
                                          <p:val>
                                            <p:strVal val="#ppt_x"/>
                                          </p:val>
                                        </p:tav>
                                      </p:tavLst>
                                    </p:anim>
                                    <p:anim calcmode="lin" valueType="num">
                                      <p:cBhvr>
                                        <p:cTn id="36" dur="1000" fill="hold"/>
                                        <p:tgtEl>
                                          <p:spTgt spid="18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 grpId="0" build="p" bldLvl="5" animBg="1" advAuto="0"/>
      <p:bldP spid="184" grpId="0" animBg="1" advAuto="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From this one, we can say there is a higher risk of Lung Cancer in males compared to women.…"/>
          <p:cNvSpPr txBox="1">
            <a:spLocks noGrp="1"/>
          </p:cNvSpPr>
          <p:nvPr>
            <p:ph type="body" sz="half" idx="1"/>
          </p:nvPr>
        </p:nvSpPr>
        <p:spPr>
          <a:xfrm>
            <a:off x="1206500" y="3100223"/>
            <a:ext cx="9779000" cy="9404911"/>
          </a:xfrm>
          <a:prstGeom prst="rect">
            <a:avLst/>
          </a:prstGeom>
        </p:spPr>
        <p:txBody>
          <a:bodyPr/>
          <a:lstStyle/>
          <a:p>
            <a:r>
              <a:t>From this one, we can say there is a higher risk of Lung Cancer in males compared to women.</a:t>
            </a:r>
          </a:p>
          <a:p>
            <a:r>
              <a:t>Whereas most females have a low risk of Lung Cancer.</a:t>
            </a:r>
          </a:p>
        </p:txBody>
      </p:sp>
      <p:pic>
        <p:nvPicPr>
          <p:cNvPr id="188" name="Screenshot 2024-11-19 at 5.34.34 PM.png" descr="Screenshot 2024-11-19 at 5.34.34 PM.png"/>
          <p:cNvPicPr>
            <a:picLocks noGrp="1" noChangeAspect="1"/>
          </p:cNvPicPr>
          <p:nvPr>
            <p:ph type="pic" idx="22"/>
          </p:nvPr>
        </p:nvPicPr>
        <p:blipFill>
          <a:blip r:embed="rId2"/>
          <a:srcRect/>
          <a:stretch>
            <a:fillRect/>
          </a:stretch>
        </p:blipFill>
        <p:spPr>
          <a:xfrm>
            <a:off x="12192000" y="2627189"/>
            <a:ext cx="10916874" cy="8461523"/>
          </a:xfrm>
          <a:prstGeom prst="rect">
            <a:avLst/>
          </a:prstGeom>
        </p:spPr>
      </p:pic>
      <p:sp>
        <p:nvSpPr>
          <p:cNvPr id="189" name="Data Visualization"/>
          <p:cNvSpPr txBox="1">
            <a:spLocks noGrp="1"/>
          </p:cNvSpPr>
          <p:nvPr>
            <p:ph type="title"/>
          </p:nvPr>
        </p:nvSpPr>
        <p:spPr>
          <a:prstGeom prst="rect">
            <a:avLst/>
          </a:prstGeom>
        </p:spPr>
        <p:txBody>
          <a:bodyPr/>
          <a:lstStyle/>
          <a:p>
            <a:r>
              <a:t>Data Visualization </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iterate>
                                    <p:tmAbs val="0"/>
                                  </p:iterate>
                                  <p:childTnLst>
                                    <p:set>
                                      <p:cBhvr>
                                        <p:cTn id="6" fill="hold"/>
                                        <p:tgtEl>
                                          <p:spTgt spid="188"/>
                                        </p:tgtEl>
                                        <p:attrNameLst>
                                          <p:attrName>style.visibility</p:attrName>
                                        </p:attrNameLst>
                                      </p:cBhvr>
                                      <p:to>
                                        <p:strVal val="visible"/>
                                      </p:to>
                                    </p:set>
                                    <p:anim calcmode="lin" valueType="num">
                                      <p:cBhvr>
                                        <p:cTn id="7" dur="1000" fill="hold"/>
                                        <p:tgtEl>
                                          <p:spTgt spid="188"/>
                                        </p:tgtEl>
                                        <p:attrNameLst>
                                          <p:attrName>ppt_w</p:attrName>
                                        </p:attrNameLst>
                                      </p:cBhvr>
                                      <p:tavLst>
                                        <p:tav tm="0">
                                          <p:val>
                                            <p:fltVal val="0"/>
                                          </p:val>
                                        </p:tav>
                                        <p:tav tm="100000">
                                          <p:val>
                                            <p:strVal val="#ppt_w"/>
                                          </p:val>
                                        </p:tav>
                                      </p:tavLst>
                                    </p:anim>
                                    <p:anim calcmode="lin" valueType="num">
                                      <p:cBhvr>
                                        <p:cTn id="8" dur="1000" fill="hold"/>
                                        <p:tgtEl>
                                          <p:spTgt spid="188"/>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iterate type="lt">
                                    <p:tmAbs val="0"/>
                                  </p:iterate>
                                  <p:childTnLst>
                                    <p:set>
                                      <p:cBhvr>
                                        <p:cTn id="12" fill="hold"/>
                                        <p:tgtEl>
                                          <p:spTgt spid="187">
                                            <p:bg/>
                                          </p:spTgt>
                                        </p:tgtEl>
                                        <p:attrNameLst>
                                          <p:attrName>style.visibility</p:attrName>
                                        </p:attrNameLst>
                                      </p:cBhvr>
                                      <p:to>
                                        <p:strVal val="visible"/>
                                      </p:to>
                                    </p:set>
                                    <p:anim calcmode="lin" valueType="num">
                                      <p:cBhvr>
                                        <p:cTn id="13" dur="1000" fill="hold"/>
                                        <p:tgtEl>
                                          <p:spTgt spid="187">
                                            <p:bg/>
                                          </p:spTgt>
                                        </p:tgtEl>
                                        <p:attrNameLst>
                                          <p:attrName>ppt_x</p:attrName>
                                        </p:attrNameLst>
                                      </p:cBhvr>
                                      <p:tavLst>
                                        <p:tav tm="0">
                                          <p:val>
                                            <p:strVal val="0-#ppt_w/2"/>
                                          </p:val>
                                        </p:tav>
                                        <p:tav tm="100000">
                                          <p:val>
                                            <p:strVal val="#ppt_x"/>
                                          </p:val>
                                        </p:tav>
                                      </p:tavLst>
                                    </p:anim>
                                    <p:anim calcmode="lin" valueType="num">
                                      <p:cBhvr>
                                        <p:cTn id="14" dur="1000" fill="hold"/>
                                        <p:tgtEl>
                                          <p:spTgt spid="187">
                                            <p:bg/>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iterate type="lt">
                                    <p:tmAbs val="0"/>
                                  </p:iterate>
                                  <p:childTnLst>
                                    <p:set>
                                      <p:cBhvr>
                                        <p:cTn id="16" fill="hold"/>
                                        <p:tgtEl>
                                          <p:spTgt spid="187">
                                            <p:txEl>
                                              <p:pRg st="0" end="0"/>
                                            </p:txEl>
                                          </p:spTgt>
                                        </p:tgtEl>
                                        <p:attrNameLst>
                                          <p:attrName>style.visibility</p:attrName>
                                        </p:attrNameLst>
                                      </p:cBhvr>
                                      <p:to>
                                        <p:strVal val="visible"/>
                                      </p:to>
                                    </p:set>
                                    <p:anim calcmode="lin" valueType="num">
                                      <p:cBhvr>
                                        <p:cTn id="17" dur="1000" fill="hold"/>
                                        <p:tgtEl>
                                          <p:spTgt spid="187">
                                            <p:txEl>
                                              <p:pRg st="0" end="0"/>
                                            </p:txEl>
                                          </p:spTgt>
                                        </p:tgtEl>
                                        <p:attrNameLst>
                                          <p:attrName>ppt_x</p:attrName>
                                        </p:attrNameLst>
                                      </p:cBhvr>
                                      <p:tavLst>
                                        <p:tav tm="0">
                                          <p:val>
                                            <p:strVal val="0-#ppt_w/2"/>
                                          </p:val>
                                        </p:tav>
                                        <p:tav tm="100000">
                                          <p:val>
                                            <p:strVal val="#ppt_x"/>
                                          </p:val>
                                        </p:tav>
                                      </p:tavLst>
                                    </p:anim>
                                    <p:anim calcmode="lin" valueType="num">
                                      <p:cBhvr>
                                        <p:cTn id="18" dur="1000" fill="hold"/>
                                        <p:tgtEl>
                                          <p:spTgt spid="18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iterate type="lt">
                                    <p:tmAbs val="0"/>
                                  </p:iterate>
                                  <p:childTnLst>
                                    <p:set>
                                      <p:cBhvr>
                                        <p:cTn id="22" fill="hold"/>
                                        <p:tgtEl>
                                          <p:spTgt spid="187">
                                            <p:txEl>
                                              <p:pRg st="1" end="1"/>
                                            </p:txEl>
                                          </p:spTgt>
                                        </p:tgtEl>
                                        <p:attrNameLst>
                                          <p:attrName>style.visibility</p:attrName>
                                        </p:attrNameLst>
                                      </p:cBhvr>
                                      <p:to>
                                        <p:strVal val="visible"/>
                                      </p:to>
                                    </p:set>
                                    <p:anim calcmode="lin" valueType="num">
                                      <p:cBhvr>
                                        <p:cTn id="23" dur="1000" fill="hold"/>
                                        <p:tgtEl>
                                          <p:spTgt spid="187">
                                            <p:txEl>
                                              <p:pRg st="1" end="1"/>
                                            </p:txEl>
                                          </p:spTgt>
                                        </p:tgtEl>
                                        <p:attrNameLst>
                                          <p:attrName>ppt_x</p:attrName>
                                        </p:attrNameLst>
                                      </p:cBhvr>
                                      <p:tavLst>
                                        <p:tav tm="0">
                                          <p:val>
                                            <p:strVal val="0-#ppt_w/2"/>
                                          </p:val>
                                        </p:tav>
                                        <p:tav tm="100000">
                                          <p:val>
                                            <p:strVal val="#ppt_x"/>
                                          </p:val>
                                        </p:tav>
                                      </p:tavLst>
                                    </p:anim>
                                    <p:anim calcmode="lin" valueType="num">
                                      <p:cBhvr>
                                        <p:cTn id="24" dur="1000" fill="hold"/>
                                        <p:tgtEl>
                                          <p:spTgt spid="187">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 grpId="0" build="p" bldLvl="5" animBg="1" advAuto="0"/>
      <p:bldP spid="188" grpId="0" animBg="1" advAuto="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Data Preprocessing"/>
          <p:cNvSpPr txBox="1">
            <a:spLocks noGrp="1"/>
          </p:cNvSpPr>
          <p:nvPr>
            <p:ph type="title"/>
          </p:nvPr>
        </p:nvSpPr>
        <p:spPr>
          <a:prstGeom prst="rect">
            <a:avLst/>
          </a:prstGeom>
        </p:spPr>
        <p:txBody>
          <a:bodyPr/>
          <a:lstStyle/>
          <a:p>
            <a:r>
              <a:t>Data Preprocessing</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Data Preprocessing"/>
          <p:cNvSpPr txBox="1">
            <a:spLocks noGrp="1"/>
          </p:cNvSpPr>
          <p:nvPr>
            <p:ph type="title"/>
          </p:nvPr>
        </p:nvSpPr>
        <p:spPr>
          <a:prstGeom prst="rect">
            <a:avLst/>
          </a:prstGeom>
        </p:spPr>
        <p:txBody>
          <a:bodyPr/>
          <a:lstStyle/>
          <a:p>
            <a:r>
              <a:t>Data Preprocessing</a:t>
            </a:r>
          </a:p>
        </p:txBody>
      </p:sp>
      <p:sp>
        <p:nvSpPr>
          <p:cNvPr id="194" name="Data Cleaning"/>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t>Data Cleaning</a:t>
            </a:r>
          </a:p>
        </p:txBody>
      </p:sp>
      <p:sp>
        <p:nvSpPr>
          <p:cNvPr id="195" name="In this step, we checked for null and duplicate values.…"/>
          <p:cNvSpPr txBox="1">
            <a:spLocks noGrp="1"/>
          </p:cNvSpPr>
          <p:nvPr>
            <p:ph type="body" idx="1"/>
          </p:nvPr>
        </p:nvSpPr>
        <p:spPr>
          <a:xfrm>
            <a:off x="1206500" y="3619005"/>
            <a:ext cx="21971000" cy="8885511"/>
          </a:xfrm>
          <a:prstGeom prst="rect">
            <a:avLst/>
          </a:prstGeom>
        </p:spPr>
        <p:txBody>
          <a:bodyPr/>
          <a:lstStyle/>
          <a:p>
            <a:r>
              <a:t>In this step, we checked for null and duplicate values.</a:t>
            </a:r>
          </a:p>
          <a:p>
            <a:r>
              <a:t>Then, using IQR, we checked for outliers in all the features. We found a few outliers in age and snoring and removed them.</a:t>
            </a:r>
          </a:p>
        </p:txBody>
      </p:sp>
      <p:graphicFrame>
        <p:nvGraphicFramePr>
          <p:cNvPr id="196" name="Table 1"/>
          <p:cNvGraphicFramePr/>
          <p:nvPr/>
        </p:nvGraphicFramePr>
        <p:xfrm>
          <a:off x="14895968" y="9560877"/>
          <a:ext cx="8760422" cy="3600660"/>
        </p:xfrm>
        <a:graphic>
          <a:graphicData uri="http://schemas.openxmlformats.org/drawingml/2006/table">
            <a:tbl>
              <a:tblPr firstRow="1" firstCol="1">
                <a:tableStyleId>{CF821DB8-F4EB-4A41-A1BA-3FCAFE7338EE}</a:tableStyleId>
              </a:tblPr>
              <a:tblGrid>
                <a:gridCol w="4380211">
                  <a:extLst>
                    <a:ext uri="{9D8B030D-6E8A-4147-A177-3AD203B41FA5}">
                      <a16:colId xmlns:a16="http://schemas.microsoft.com/office/drawing/2014/main" val="20000"/>
                    </a:ext>
                  </a:extLst>
                </a:gridCol>
                <a:gridCol w="4380211">
                  <a:extLst>
                    <a:ext uri="{9D8B030D-6E8A-4147-A177-3AD203B41FA5}">
                      <a16:colId xmlns:a16="http://schemas.microsoft.com/office/drawing/2014/main" val="20001"/>
                    </a:ext>
                  </a:extLst>
                </a:gridCol>
              </a:tblGrid>
              <a:tr h="1200220">
                <a:tc>
                  <a:txBody>
                    <a:bodyPr/>
                    <a:lstStyle/>
                    <a:p>
                      <a:pPr defTabSz="914400">
                        <a:tabLst>
                          <a:tab pos="1663700" algn="l"/>
                        </a:tabLst>
                        <a:defRPr sz="3200">
                          <a:sym typeface="Helvetica Neue Medium"/>
                        </a:defRPr>
                      </a:pPr>
                      <a:endParaRPr/>
                    </a:p>
                  </a:txBody>
                  <a:tcPr marL="50800" marR="50800" marT="50800" marB="50800" anchor="ctr" horzOverflow="overflow"/>
                </a:tc>
                <a:tc>
                  <a:txBody>
                    <a:bodyPr/>
                    <a:lstStyle/>
                    <a:p>
                      <a:pPr defTabSz="914400">
                        <a:tabLst>
                          <a:tab pos="1663700" algn="l"/>
                        </a:tabLst>
                      </a:pPr>
                      <a:r>
                        <a:rPr sz="3200">
                          <a:sym typeface="Helvetica Neue Medium"/>
                        </a:rPr>
                        <a:t>Samples</a:t>
                      </a:r>
                    </a:p>
                  </a:txBody>
                  <a:tcPr marL="50800" marR="50800" marT="50800" marB="50800" anchor="ctr" horzOverflow="overflow"/>
                </a:tc>
                <a:extLst>
                  <a:ext uri="{0D108BD9-81ED-4DB2-BD59-A6C34878D82A}">
                    <a16:rowId xmlns:a16="http://schemas.microsoft.com/office/drawing/2014/main" val="10000"/>
                  </a:ext>
                </a:extLst>
              </a:tr>
              <a:tr h="1200220">
                <a:tc>
                  <a:txBody>
                    <a:bodyPr/>
                    <a:lstStyle/>
                    <a:p>
                      <a:pPr defTabSz="914400">
                        <a:tabLst>
                          <a:tab pos="1663700" algn="l"/>
                        </a:tabLst>
                      </a:pPr>
                      <a:r>
                        <a:rPr sz="3200">
                          <a:sym typeface="Helvetica Neue Medium"/>
                        </a:rPr>
                        <a:t>Before</a:t>
                      </a:r>
                    </a:p>
                  </a:txBody>
                  <a:tcPr marL="50800" marR="50800" marT="50800" marB="50800" anchor="ctr" horzOverflow="overflow"/>
                </a:tc>
                <a:tc>
                  <a:txBody>
                    <a:bodyPr/>
                    <a:lstStyle/>
                    <a:p>
                      <a:pPr defTabSz="914400"/>
                      <a:r>
                        <a:rPr sz="3200"/>
                        <a:t>1000</a:t>
                      </a:r>
                    </a:p>
                  </a:txBody>
                  <a:tcPr marL="50800" marR="50800" marT="50800" marB="50800" anchor="ctr" horzOverflow="overflow"/>
                </a:tc>
                <a:extLst>
                  <a:ext uri="{0D108BD9-81ED-4DB2-BD59-A6C34878D82A}">
                    <a16:rowId xmlns:a16="http://schemas.microsoft.com/office/drawing/2014/main" val="10001"/>
                  </a:ext>
                </a:extLst>
              </a:tr>
              <a:tr h="1200220">
                <a:tc>
                  <a:txBody>
                    <a:bodyPr/>
                    <a:lstStyle/>
                    <a:p>
                      <a:pPr defTabSz="914400">
                        <a:tabLst>
                          <a:tab pos="1663700" algn="l"/>
                        </a:tabLst>
                      </a:pPr>
                      <a:r>
                        <a:rPr sz="3200">
                          <a:sym typeface="Helvetica Neue Medium"/>
                        </a:rPr>
                        <a:t>After</a:t>
                      </a:r>
                    </a:p>
                  </a:txBody>
                  <a:tcPr marL="50800" marR="50800" marT="50800" marB="50800" anchor="ctr" horzOverflow="overflow"/>
                </a:tc>
                <a:tc>
                  <a:txBody>
                    <a:bodyPr/>
                    <a:lstStyle/>
                    <a:p>
                      <a:pPr defTabSz="914400"/>
                      <a:r>
                        <a:rPr sz="3200"/>
                        <a:t>980</a:t>
                      </a:r>
                    </a:p>
                  </a:txBody>
                  <a:tcPr marL="50800" marR="50800" marT="50800" marB="50800" anchor="ctr" horzOverflow="overflow"/>
                </a:tc>
                <a:extLst>
                  <a:ext uri="{0D108BD9-81ED-4DB2-BD59-A6C34878D82A}">
                    <a16:rowId xmlns:a16="http://schemas.microsoft.com/office/drawing/2014/main" val="10002"/>
                  </a:ext>
                </a:extLst>
              </a:tr>
            </a:tbl>
          </a:graphicData>
        </a:graphic>
      </p:graphicFrame>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iterate type="lt">
                                    <p:tmAbs val="0"/>
                                  </p:iterate>
                                  <p:childTnLst>
                                    <p:set>
                                      <p:cBhvr>
                                        <p:cTn id="6" fill="hold"/>
                                        <p:tgtEl>
                                          <p:spTgt spid="195">
                                            <p:bg/>
                                          </p:spTgt>
                                        </p:tgtEl>
                                        <p:attrNameLst>
                                          <p:attrName>style.visibility</p:attrName>
                                        </p:attrNameLst>
                                      </p:cBhvr>
                                      <p:to>
                                        <p:strVal val="visible"/>
                                      </p:to>
                                    </p:set>
                                    <p:anim calcmode="lin" valueType="num">
                                      <p:cBhvr>
                                        <p:cTn id="7" dur="1000" fill="hold"/>
                                        <p:tgtEl>
                                          <p:spTgt spid="195">
                                            <p:bg/>
                                          </p:spTgt>
                                        </p:tgtEl>
                                        <p:attrNameLst>
                                          <p:attrName>ppt_x</p:attrName>
                                        </p:attrNameLst>
                                      </p:cBhvr>
                                      <p:tavLst>
                                        <p:tav tm="0">
                                          <p:val>
                                            <p:strVal val="0-#ppt_w/2"/>
                                          </p:val>
                                        </p:tav>
                                        <p:tav tm="100000">
                                          <p:val>
                                            <p:strVal val="#ppt_x"/>
                                          </p:val>
                                        </p:tav>
                                      </p:tavLst>
                                    </p:anim>
                                    <p:anim calcmode="lin" valueType="num">
                                      <p:cBhvr>
                                        <p:cTn id="8" dur="1000" fill="hold"/>
                                        <p:tgtEl>
                                          <p:spTgt spid="195">
                                            <p:bg/>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iterate type="lt">
                                    <p:tmAbs val="0"/>
                                  </p:iterate>
                                  <p:childTnLst>
                                    <p:set>
                                      <p:cBhvr>
                                        <p:cTn id="10" fill="hold"/>
                                        <p:tgtEl>
                                          <p:spTgt spid="195">
                                            <p:txEl>
                                              <p:pRg st="0" end="0"/>
                                            </p:txEl>
                                          </p:spTgt>
                                        </p:tgtEl>
                                        <p:attrNameLst>
                                          <p:attrName>style.visibility</p:attrName>
                                        </p:attrNameLst>
                                      </p:cBhvr>
                                      <p:to>
                                        <p:strVal val="visible"/>
                                      </p:to>
                                    </p:set>
                                    <p:anim calcmode="lin" valueType="num">
                                      <p:cBhvr>
                                        <p:cTn id="11" dur="1000" fill="hold"/>
                                        <p:tgtEl>
                                          <p:spTgt spid="195">
                                            <p:txEl>
                                              <p:pRg st="0" end="0"/>
                                            </p:txEl>
                                          </p:spTgt>
                                        </p:tgtEl>
                                        <p:attrNameLst>
                                          <p:attrName>ppt_x</p:attrName>
                                        </p:attrNameLst>
                                      </p:cBhvr>
                                      <p:tavLst>
                                        <p:tav tm="0">
                                          <p:val>
                                            <p:strVal val="0-#ppt_w/2"/>
                                          </p:val>
                                        </p:tav>
                                        <p:tav tm="100000">
                                          <p:val>
                                            <p:strVal val="#ppt_x"/>
                                          </p:val>
                                        </p:tav>
                                      </p:tavLst>
                                    </p:anim>
                                    <p:anim calcmode="lin" valueType="num">
                                      <p:cBhvr>
                                        <p:cTn id="12" dur="1000" fill="hold"/>
                                        <p:tgtEl>
                                          <p:spTgt spid="19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iterate type="lt">
                                    <p:tmAbs val="0"/>
                                  </p:iterate>
                                  <p:childTnLst>
                                    <p:set>
                                      <p:cBhvr>
                                        <p:cTn id="16" fill="hold"/>
                                        <p:tgtEl>
                                          <p:spTgt spid="195">
                                            <p:txEl>
                                              <p:pRg st="1" end="1"/>
                                            </p:txEl>
                                          </p:spTgt>
                                        </p:tgtEl>
                                        <p:attrNameLst>
                                          <p:attrName>style.visibility</p:attrName>
                                        </p:attrNameLst>
                                      </p:cBhvr>
                                      <p:to>
                                        <p:strVal val="visible"/>
                                      </p:to>
                                    </p:set>
                                    <p:anim calcmode="lin" valueType="num">
                                      <p:cBhvr>
                                        <p:cTn id="17" dur="1000" fill="hold"/>
                                        <p:tgtEl>
                                          <p:spTgt spid="195">
                                            <p:txEl>
                                              <p:pRg st="1" end="1"/>
                                            </p:txEl>
                                          </p:spTgt>
                                        </p:tgtEl>
                                        <p:attrNameLst>
                                          <p:attrName>ppt_x</p:attrName>
                                        </p:attrNameLst>
                                      </p:cBhvr>
                                      <p:tavLst>
                                        <p:tav tm="0">
                                          <p:val>
                                            <p:strVal val="0-#ppt_w/2"/>
                                          </p:val>
                                        </p:tav>
                                        <p:tav tm="100000">
                                          <p:val>
                                            <p:strVal val="#ppt_x"/>
                                          </p:val>
                                        </p:tav>
                                      </p:tavLst>
                                    </p:anim>
                                    <p:anim calcmode="lin" valueType="num">
                                      <p:cBhvr>
                                        <p:cTn id="18" dur="1000" fill="hold"/>
                                        <p:tgtEl>
                                          <p:spTgt spid="19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iterate>
                                    <p:tmAbs val="0"/>
                                  </p:iterate>
                                  <p:childTnLst>
                                    <p:set>
                                      <p:cBhvr>
                                        <p:cTn id="22" fill="hold"/>
                                        <p:tgtEl>
                                          <p:spTgt spid="196"/>
                                        </p:tgtEl>
                                        <p:attrNameLst>
                                          <p:attrName>style.visibility</p:attrName>
                                        </p:attrNameLst>
                                      </p:cBhvr>
                                      <p:to>
                                        <p:strVal val="visible"/>
                                      </p:to>
                                    </p:set>
                                    <p:anim calcmode="lin" valueType="num">
                                      <p:cBhvr>
                                        <p:cTn id="23" dur="1000" fill="hold"/>
                                        <p:tgtEl>
                                          <p:spTgt spid="196"/>
                                        </p:tgtEl>
                                        <p:attrNameLst>
                                          <p:attrName>ppt_x</p:attrName>
                                        </p:attrNameLst>
                                      </p:cBhvr>
                                      <p:tavLst>
                                        <p:tav tm="0">
                                          <p:val>
                                            <p:strVal val="#ppt_x"/>
                                          </p:val>
                                        </p:tav>
                                        <p:tav tm="100000">
                                          <p:val>
                                            <p:strVal val="#ppt_x"/>
                                          </p:val>
                                        </p:tav>
                                      </p:tavLst>
                                    </p:anim>
                                    <p:anim calcmode="lin" valueType="num">
                                      <p:cBhvr>
                                        <p:cTn id="24" dur="1000" fill="hold"/>
                                        <p:tgtEl>
                                          <p:spTgt spid="1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 grpId="0" build="p" bldLvl="5" animBg="1" advAuto="0"/>
      <p:bldP spid="196" grpId="0" animBg="1" advAuto="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Data Preprocessing"/>
          <p:cNvSpPr txBox="1">
            <a:spLocks noGrp="1"/>
          </p:cNvSpPr>
          <p:nvPr>
            <p:ph type="title"/>
          </p:nvPr>
        </p:nvSpPr>
        <p:spPr>
          <a:prstGeom prst="rect">
            <a:avLst/>
          </a:prstGeom>
        </p:spPr>
        <p:txBody>
          <a:bodyPr/>
          <a:lstStyle/>
          <a:p>
            <a:r>
              <a:t>Data Preprocessing</a:t>
            </a:r>
          </a:p>
        </p:txBody>
      </p:sp>
      <p:sp>
        <p:nvSpPr>
          <p:cNvPr id="199" name="Data Tranformation"/>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dirty="0"/>
              <a:t>Data </a:t>
            </a:r>
            <a:r>
              <a:rPr dirty="0" err="1"/>
              <a:t>Tranformation</a:t>
            </a:r>
            <a:endParaRPr dirty="0"/>
          </a:p>
        </p:txBody>
      </p:sp>
      <p:sp>
        <p:nvSpPr>
          <p:cNvPr id="200" name="Encoding categorical features"/>
          <p:cNvSpPr txBox="1"/>
          <p:nvPr/>
        </p:nvSpPr>
        <p:spPr>
          <a:xfrm>
            <a:off x="1122416" y="3304363"/>
            <a:ext cx="9753297" cy="82051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lvl="2">
              <a:defRPr b="1"/>
            </a:pPr>
            <a:r>
              <a:t>Encoding categorical features</a:t>
            </a:r>
          </a:p>
        </p:txBody>
      </p:sp>
      <p:sp>
        <p:nvSpPr>
          <p:cNvPr id="201" name="We had to change categorical features to numeric ones; we used one-hot encoding.…"/>
          <p:cNvSpPr txBox="1">
            <a:spLocks noGrp="1"/>
          </p:cNvSpPr>
          <p:nvPr>
            <p:ph type="body" idx="1"/>
          </p:nvPr>
        </p:nvSpPr>
        <p:spPr>
          <a:xfrm>
            <a:off x="1206500" y="4248503"/>
            <a:ext cx="21971000" cy="8256013"/>
          </a:xfrm>
          <a:prstGeom prst="rect">
            <a:avLst/>
          </a:prstGeom>
        </p:spPr>
        <p:txBody>
          <a:bodyPr/>
          <a:lstStyle/>
          <a:p>
            <a:pPr marL="1121663" lvl="1" indent="-560831" defTabSz="2243271">
              <a:spcBef>
                <a:spcPts val="4100"/>
              </a:spcBef>
              <a:defRPr sz="4416"/>
            </a:pPr>
            <a:r>
              <a:t>We had to change categorical features to numeric ones; we used one-hot encoding.</a:t>
            </a:r>
          </a:p>
          <a:p>
            <a:pPr marL="1121663" lvl="1" indent="-560831" defTabSz="2243271">
              <a:spcBef>
                <a:spcPts val="4100"/>
              </a:spcBef>
              <a:defRPr sz="4416"/>
            </a:pPr>
            <a:r>
              <a:t>Normalization of features:</a:t>
            </a:r>
          </a:p>
          <a:p>
            <a:pPr marL="1682495" lvl="2" indent="-560831" defTabSz="2243271">
              <a:spcBef>
                <a:spcPts val="4100"/>
              </a:spcBef>
              <a:defRPr sz="4416"/>
            </a:pPr>
            <a:r>
              <a:t>Normalization is a key factor in our dataset as Age features lie between 14 and 75, while all others lie between 1 and 8.</a:t>
            </a:r>
          </a:p>
          <a:p>
            <a:pPr marL="1682495" lvl="2" indent="-560831" defTabSz="2243271">
              <a:spcBef>
                <a:spcPts val="4100"/>
              </a:spcBef>
              <a:defRPr sz="4416"/>
            </a:pPr>
            <a:r>
              <a:t>We used the Min-Max technique; the formula is as follows: </a:t>
            </a:r>
          </a:p>
          <a:p>
            <a:pPr marL="0" lvl="8" indent="3364991" defTabSz="2243271">
              <a:spcBef>
                <a:spcPts val="4100"/>
              </a:spcBef>
              <a:buSzTx/>
              <a:buNone/>
              <a:defRPr sz="4416"/>
            </a:pPr>
            <a:endParaRPr/>
          </a:p>
        </p:txBody>
      </p:sp>
      <p:pic>
        <p:nvPicPr>
          <p:cNvPr id="202" name="pasted-movie.png" descr="pasted-movie.png"/>
          <p:cNvPicPr>
            <a:picLocks noChangeAspect="1"/>
          </p:cNvPicPr>
          <p:nvPr/>
        </p:nvPicPr>
        <p:blipFill>
          <a:blip r:embed="rId2"/>
          <a:stretch>
            <a:fillRect/>
          </a:stretch>
        </p:blipFill>
        <p:spPr>
          <a:xfrm>
            <a:off x="1206500" y="4248503"/>
            <a:ext cx="4478415" cy="1959308"/>
          </a:xfrm>
          <a:prstGeom prst="rect">
            <a:avLst/>
          </a:prstGeom>
          <a:ln w="12700">
            <a:miter lim="400000"/>
          </a:ln>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iterate type="lt">
                                    <p:tmAbs val="0"/>
                                  </p:iterate>
                                  <p:childTnLst>
                                    <p:set>
                                      <p:cBhvr>
                                        <p:cTn id="6" fill="hold"/>
                                        <p:tgtEl>
                                          <p:spTgt spid="201">
                                            <p:bg/>
                                          </p:spTgt>
                                        </p:tgtEl>
                                        <p:attrNameLst>
                                          <p:attrName>style.visibility</p:attrName>
                                        </p:attrNameLst>
                                      </p:cBhvr>
                                      <p:to>
                                        <p:strVal val="visible"/>
                                      </p:to>
                                    </p:set>
                                    <p:anim calcmode="lin" valueType="num">
                                      <p:cBhvr>
                                        <p:cTn id="7" dur="1000" fill="hold"/>
                                        <p:tgtEl>
                                          <p:spTgt spid="201">
                                            <p:bg/>
                                          </p:spTgt>
                                        </p:tgtEl>
                                        <p:attrNameLst>
                                          <p:attrName>ppt_x</p:attrName>
                                        </p:attrNameLst>
                                      </p:cBhvr>
                                      <p:tavLst>
                                        <p:tav tm="0">
                                          <p:val>
                                            <p:strVal val="0-#ppt_w/2"/>
                                          </p:val>
                                        </p:tav>
                                        <p:tav tm="100000">
                                          <p:val>
                                            <p:strVal val="#ppt_x"/>
                                          </p:val>
                                        </p:tav>
                                      </p:tavLst>
                                    </p:anim>
                                    <p:anim calcmode="lin" valueType="num">
                                      <p:cBhvr>
                                        <p:cTn id="8" dur="1000" fill="hold"/>
                                        <p:tgtEl>
                                          <p:spTgt spid="201">
                                            <p:bg/>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iterate type="lt">
                                    <p:tmAbs val="0"/>
                                  </p:iterate>
                                  <p:childTnLst>
                                    <p:set>
                                      <p:cBhvr>
                                        <p:cTn id="10" fill="hold"/>
                                        <p:tgtEl>
                                          <p:spTgt spid="201">
                                            <p:txEl>
                                              <p:pRg st="0" end="0"/>
                                            </p:txEl>
                                          </p:spTgt>
                                        </p:tgtEl>
                                        <p:attrNameLst>
                                          <p:attrName>style.visibility</p:attrName>
                                        </p:attrNameLst>
                                      </p:cBhvr>
                                      <p:to>
                                        <p:strVal val="visible"/>
                                      </p:to>
                                    </p:set>
                                    <p:anim calcmode="lin" valueType="num">
                                      <p:cBhvr>
                                        <p:cTn id="11" dur="1000" fill="hold"/>
                                        <p:tgtEl>
                                          <p:spTgt spid="201">
                                            <p:txEl>
                                              <p:pRg st="0" end="0"/>
                                            </p:txEl>
                                          </p:spTgt>
                                        </p:tgtEl>
                                        <p:attrNameLst>
                                          <p:attrName>ppt_x</p:attrName>
                                        </p:attrNameLst>
                                      </p:cBhvr>
                                      <p:tavLst>
                                        <p:tav tm="0">
                                          <p:val>
                                            <p:strVal val="0-#ppt_w/2"/>
                                          </p:val>
                                        </p:tav>
                                        <p:tav tm="100000">
                                          <p:val>
                                            <p:strVal val="#ppt_x"/>
                                          </p:val>
                                        </p:tav>
                                      </p:tavLst>
                                    </p:anim>
                                    <p:anim calcmode="lin" valueType="num">
                                      <p:cBhvr>
                                        <p:cTn id="12" dur="1000" fill="hold"/>
                                        <p:tgtEl>
                                          <p:spTgt spid="201">
                                            <p:txEl>
                                              <p:pRg st="0" end="0"/>
                                            </p:txEl>
                                          </p:spTgt>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iterate type="lt">
                                    <p:tmAbs val="0"/>
                                  </p:iterate>
                                  <p:childTnLst>
                                    <p:set>
                                      <p:cBhvr>
                                        <p:cTn id="14" fill="hold"/>
                                        <p:tgtEl>
                                          <p:spTgt spid="202"/>
                                        </p:tgtEl>
                                        <p:attrNameLst>
                                          <p:attrName>style.visibility</p:attrName>
                                        </p:attrNameLst>
                                      </p:cBhvr>
                                      <p:to>
                                        <p:strVal val="visible"/>
                                      </p:to>
                                    </p:set>
                                    <p:anim calcmode="lin" valueType="num">
                                      <p:cBhvr>
                                        <p:cTn id="15" dur="1000" fill="hold"/>
                                        <p:tgtEl>
                                          <p:spTgt spid="202"/>
                                        </p:tgtEl>
                                        <p:attrNameLst>
                                          <p:attrName>ppt_x</p:attrName>
                                        </p:attrNameLst>
                                      </p:cBhvr>
                                      <p:tavLst>
                                        <p:tav tm="0">
                                          <p:val>
                                            <p:strVal val="0-#ppt_w/2"/>
                                          </p:val>
                                        </p:tav>
                                        <p:tav tm="100000">
                                          <p:val>
                                            <p:strVal val="#ppt_x"/>
                                          </p:val>
                                        </p:tav>
                                      </p:tavLst>
                                    </p:anim>
                                    <p:anim calcmode="lin" valueType="num">
                                      <p:cBhvr>
                                        <p:cTn id="16" dur="1000" fill="hold"/>
                                        <p:tgtEl>
                                          <p:spTgt spid="202"/>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iterate type="lt">
                                    <p:tmAbs val="0"/>
                                  </p:iterate>
                                  <p:childTnLst>
                                    <p:set>
                                      <p:cBhvr>
                                        <p:cTn id="20" fill="hold"/>
                                        <p:tgtEl>
                                          <p:spTgt spid="201">
                                            <p:txEl>
                                              <p:pRg st="1" end="1"/>
                                            </p:txEl>
                                          </p:spTgt>
                                        </p:tgtEl>
                                        <p:attrNameLst>
                                          <p:attrName>style.visibility</p:attrName>
                                        </p:attrNameLst>
                                      </p:cBhvr>
                                      <p:to>
                                        <p:strVal val="visible"/>
                                      </p:to>
                                    </p:set>
                                    <p:anim calcmode="lin" valueType="num">
                                      <p:cBhvr>
                                        <p:cTn id="21" dur="1000" fill="hold"/>
                                        <p:tgtEl>
                                          <p:spTgt spid="201">
                                            <p:txEl>
                                              <p:pRg st="1" end="1"/>
                                            </p:txEl>
                                          </p:spTgt>
                                        </p:tgtEl>
                                        <p:attrNameLst>
                                          <p:attrName>ppt_x</p:attrName>
                                        </p:attrNameLst>
                                      </p:cBhvr>
                                      <p:tavLst>
                                        <p:tav tm="0">
                                          <p:val>
                                            <p:strVal val="0-#ppt_w/2"/>
                                          </p:val>
                                        </p:tav>
                                        <p:tav tm="100000">
                                          <p:val>
                                            <p:strVal val="#ppt_x"/>
                                          </p:val>
                                        </p:tav>
                                      </p:tavLst>
                                    </p:anim>
                                    <p:anim calcmode="lin" valueType="num">
                                      <p:cBhvr>
                                        <p:cTn id="22" dur="1000" fill="hold"/>
                                        <p:tgtEl>
                                          <p:spTgt spid="20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iterate type="lt">
                                    <p:tmAbs val="0"/>
                                  </p:iterate>
                                  <p:childTnLst>
                                    <p:set>
                                      <p:cBhvr>
                                        <p:cTn id="26" fill="hold"/>
                                        <p:tgtEl>
                                          <p:spTgt spid="201">
                                            <p:txEl>
                                              <p:pRg st="2" end="2"/>
                                            </p:txEl>
                                          </p:spTgt>
                                        </p:tgtEl>
                                        <p:attrNameLst>
                                          <p:attrName>style.visibility</p:attrName>
                                        </p:attrNameLst>
                                      </p:cBhvr>
                                      <p:to>
                                        <p:strVal val="visible"/>
                                      </p:to>
                                    </p:set>
                                    <p:anim calcmode="lin" valueType="num">
                                      <p:cBhvr>
                                        <p:cTn id="27" dur="1000" fill="hold"/>
                                        <p:tgtEl>
                                          <p:spTgt spid="201">
                                            <p:txEl>
                                              <p:pRg st="2" end="2"/>
                                            </p:txEl>
                                          </p:spTgt>
                                        </p:tgtEl>
                                        <p:attrNameLst>
                                          <p:attrName>ppt_x</p:attrName>
                                        </p:attrNameLst>
                                      </p:cBhvr>
                                      <p:tavLst>
                                        <p:tav tm="0">
                                          <p:val>
                                            <p:strVal val="0-#ppt_w/2"/>
                                          </p:val>
                                        </p:tav>
                                        <p:tav tm="100000">
                                          <p:val>
                                            <p:strVal val="#ppt_x"/>
                                          </p:val>
                                        </p:tav>
                                      </p:tavLst>
                                    </p:anim>
                                    <p:anim calcmode="lin" valueType="num">
                                      <p:cBhvr>
                                        <p:cTn id="28" dur="1000" fill="hold"/>
                                        <p:tgtEl>
                                          <p:spTgt spid="20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iterate type="lt">
                                    <p:tmAbs val="0"/>
                                  </p:iterate>
                                  <p:childTnLst>
                                    <p:set>
                                      <p:cBhvr>
                                        <p:cTn id="32" fill="hold"/>
                                        <p:tgtEl>
                                          <p:spTgt spid="201">
                                            <p:txEl>
                                              <p:pRg st="3" end="3"/>
                                            </p:txEl>
                                          </p:spTgt>
                                        </p:tgtEl>
                                        <p:attrNameLst>
                                          <p:attrName>style.visibility</p:attrName>
                                        </p:attrNameLst>
                                      </p:cBhvr>
                                      <p:to>
                                        <p:strVal val="visible"/>
                                      </p:to>
                                    </p:set>
                                    <p:anim calcmode="lin" valueType="num">
                                      <p:cBhvr>
                                        <p:cTn id="33" dur="1000" fill="hold"/>
                                        <p:tgtEl>
                                          <p:spTgt spid="201">
                                            <p:txEl>
                                              <p:pRg st="3" end="3"/>
                                            </p:txEl>
                                          </p:spTgt>
                                        </p:tgtEl>
                                        <p:attrNameLst>
                                          <p:attrName>ppt_x</p:attrName>
                                        </p:attrNameLst>
                                      </p:cBhvr>
                                      <p:tavLst>
                                        <p:tav tm="0">
                                          <p:val>
                                            <p:strVal val="0-#ppt_w/2"/>
                                          </p:val>
                                        </p:tav>
                                        <p:tav tm="100000">
                                          <p:val>
                                            <p:strVal val="#ppt_x"/>
                                          </p:val>
                                        </p:tav>
                                      </p:tavLst>
                                    </p:anim>
                                    <p:anim calcmode="lin" valueType="num">
                                      <p:cBhvr>
                                        <p:cTn id="34" dur="1000" fill="hold"/>
                                        <p:tgtEl>
                                          <p:spTgt spid="20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iterate type="lt">
                                    <p:tmAbs val="0"/>
                                  </p:iterate>
                                  <p:childTnLst>
                                    <p:set>
                                      <p:cBhvr>
                                        <p:cTn id="38" fill="hold"/>
                                        <p:tgtEl>
                                          <p:spTgt spid="201">
                                            <p:txEl>
                                              <p:pRg st="4" end="4"/>
                                            </p:txEl>
                                          </p:spTgt>
                                        </p:tgtEl>
                                        <p:attrNameLst>
                                          <p:attrName>style.visibility</p:attrName>
                                        </p:attrNameLst>
                                      </p:cBhvr>
                                      <p:to>
                                        <p:strVal val="visible"/>
                                      </p:to>
                                    </p:set>
                                    <p:anim calcmode="lin" valueType="num">
                                      <p:cBhvr>
                                        <p:cTn id="39" dur="1000" fill="hold"/>
                                        <p:tgtEl>
                                          <p:spTgt spid="201">
                                            <p:txEl>
                                              <p:pRg st="4" end="4"/>
                                            </p:txEl>
                                          </p:spTgt>
                                        </p:tgtEl>
                                        <p:attrNameLst>
                                          <p:attrName>ppt_x</p:attrName>
                                        </p:attrNameLst>
                                      </p:cBhvr>
                                      <p:tavLst>
                                        <p:tav tm="0">
                                          <p:val>
                                            <p:strVal val="0-#ppt_w/2"/>
                                          </p:val>
                                        </p:tav>
                                        <p:tav tm="100000">
                                          <p:val>
                                            <p:strVal val="#ppt_x"/>
                                          </p:val>
                                        </p:tav>
                                      </p:tavLst>
                                    </p:anim>
                                    <p:anim calcmode="lin" valueType="num">
                                      <p:cBhvr>
                                        <p:cTn id="40" dur="1000" fill="hold"/>
                                        <p:tgtEl>
                                          <p:spTgt spid="20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 grpId="0" build="p" bldLvl="5" animBg="1" advAuto="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Data Preprocessing"/>
          <p:cNvSpPr txBox="1">
            <a:spLocks noGrp="1"/>
          </p:cNvSpPr>
          <p:nvPr>
            <p:ph type="title"/>
          </p:nvPr>
        </p:nvSpPr>
        <p:spPr>
          <a:prstGeom prst="rect">
            <a:avLst/>
          </a:prstGeom>
        </p:spPr>
        <p:txBody>
          <a:bodyPr/>
          <a:lstStyle/>
          <a:p>
            <a:r>
              <a:t>Data Preprocessing</a:t>
            </a:r>
          </a:p>
        </p:txBody>
      </p:sp>
      <p:sp>
        <p:nvSpPr>
          <p:cNvPr id="205" name="Feature Selection"/>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t>Feature Selection</a:t>
            </a:r>
          </a:p>
        </p:txBody>
      </p:sp>
      <p:sp>
        <p:nvSpPr>
          <p:cNvPr id="206" name="First, we tried to train our model with all features, but the model was overfitting, so we thought removing a few features would help our model get an accurate result.…"/>
          <p:cNvSpPr txBox="1">
            <a:spLocks noGrp="1"/>
          </p:cNvSpPr>
          <p:nvPr>
            <p:ph type="body" idx="1"/>
          </p:nvPr>
        </p:nvSpPr>
        <p:spPr>
          <a:xfrm>
            <a:off x="1206500" y="3470378"/>
            <a:ext cx="21971000" cy="9034138"/>
          </a:xfrm>
          <a:prstGeom prst="rect">
            <a:avLst/>
          </a:prstGeom>
        </p:spPr>
        <p:txBody>
          <a:bodyPr/>
          <a:lstStyle/>
          <a:p>
            <a:r>
              <a:t>First, we tried to train our model with all features, but the model was overfitting, so we thought removing a few features would help our model get an accurate result.</a:t>
            </a:r>
          </a:p>
          <a:p>
            <a:r>
              <a:t>For feature selection, we used the Information Gain method. </a:t>
            </a:r>
          </a:p>
          <a:p>
            <a:r>
              <a:t>And selected the top 12 features.</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iterate type="lt">
                                    <p:tmAbs val="0"/>
                                  </p:iterate>
                                  <p:childTnLst>
                                    <p:set>
                                      <p:cBhvr>
                                        <p:cTn id="6" fill="hold"/>
                                        <p:tgtEl>
                                          <p:spTgt spid="206">
                                            <p:bg/>
                                          </p:spTgt>
                                        </p:tgtEl>
                                        <p:attrNameLst>
                                          <p:attrName>style.visibility</p:attrName>
                                        </p:attrNameLst>
                                      </p:cBhvr>
                                      <p:to>
                                        <p:strVal val="visible"/>
                                      </p:to>
                                    </p:set>
                                    <p:anim calcmode="lin" valueType="num">
                                      <p:cBhvr>
                                        <p:cTn id="7" dur="1000" fill="hold"/>
                                        <p:tgtEl>
                                          <p:spTgt spid="206">
                                            <p:bg/>
                                          </p:spTgt>
                                        </p:tgtEl>
                                        <p:attrNameLst>
                                          <p:attrName>ppt_x</p:attrName>
                                        </p:attrNameLst>
                                      </p:cBhvr>
                                      <p:tavLst>
                                        <p:tav tm="0">
                                          <p:val>
                                            <p:strVal val="0-#ppt_w/2"/>
                                          </p:val>
                                        </p:tav>
                                        <p:tav tm="100000">
                                          <p:val>
                                            <p:strVal val="#ppt_x"/>
                                          </p:val>
                                        </p:tav>
                                      </p:tavLst>
                                    </p:anim>
                                    <p:anim calcmode="lin" valueType="num">
                                      <p:cBhvr>
                                        <p:cTn id="8" dur="1000" fill="hold"/>
                                        <p:tgtEl>
                                          <p:spTgt spid="206">
                                            <p:bg/>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iterate type="lt">
                                    <p:tmAbs val="0"/>
                                  </p:iterate>
                                  <p:childTnLst>
                                    <p:set>
                                      <p:cBhvr>
                                        <p:cTn id="10" fill="hold"/>
                                        <p:tgtEl>
                                          <p:spTgt spid="206">
                                            <p:txEl>
                                              <p:pRg st="0" end="0"/>
                                            </p:txEl>
                                          </p:spTgt>
                                        </p:tgtEl>
                                        <p:attrNameLst>
                                          <p:attrName>style.visibility</p:attrName>
                                        </p:attrNameLst>
                                      </p:cBhvr>
                                      <p:to>
                                        <p:strVal val="visible"/>
                                      </p:to>
                                    </p:set>
                                    <p:anim calcmode="lin" valueType="num">
                                      <p:cBhvr>
                                        <p:cTn id="11" dur="1000" fill="hold"/>
                                        <p:tgtEl>
                                          <p:spTgt spid="206">
                                            <p:txEl>
                                              <p:pRg st="0" end="0"/>
                                            </p:txEl>
                                          </p:spTgt>
                                        </p:tgtEl>
                                        <p:attrNameLst>
                                          <p:attrName>ppt_x</p:attrName>
                                        </p:attrNameLst>
                                      </p:cBhvr>
                                      <p:tavLst>
                                        <p:tav tm="0">
                                          <p:val>
                                            <p:strVal val="0-#ppt_w/2"/>
                                          </p:val>
                                        </p:tav>
                                        <p:tav tm="100000">
                                          <p:val>
                                            <p:strVal val="#ppt_x"/>
                                          </p:val>
                                        </p:tav>
                                      </p:tavLst>
                                    </p:anim>
                                    <p:anim calcmode="lin" valueType="num">
                                      <p:cBhvr>
                                        <p:cTn id="12" dur="1000" fill="hold"/>
                                        <p:tgtEl>
                                          <p:spTgt spid="20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iterate type="lt">
                                    <p:tmAbs val="0"/>
                                  </p:iterate>
                                  <p:childTnLst>
                                    <p:set>
                                      <p:cBhvr>
                                        <p:cTn id="16" fill="hold"/>
                                        <p:tgtEl>
                                          <p:spTgt spid="206">
                                            <p:txEl>
                                              <p:pRg st="1" end="1"/>
                                            </p:txEl>
                                          </p:spTgt>
                                        </p:tgtEl>
                                        <p:attrNameLst>
                                          <p:attrName>style.visibility</p:attrName>
                                        </p:attrNameLst>
                                      </p:cBhvr>
                                      <p:to>
                                        <p:strVal val="visible"/>
                                      </p:to>
                                    </p:set>
                                    <p:anim calcmode="lin" valueType="num">
                                      <p:cBhvr>
                                        <p:cTn id="17" dur="1000" fill="hold"/>
                                        <p:tgtEl>
                                          <p:spTgt spid="206">
                                            <p:txEl>
                                              <p:pRg st="1" end="1"/>
                                            </p:txEl>
                                          </p:spTgt>
                                        </p:tgtEl>
                                        <p:attrNameLst>
                                          <p:attrName>ppt_x</p:attrName>
                                        </p:attrNameLst>
                                      </p:cBhvr>
                                      <p:tavLst>
                                        <p:tav tm="0">
                                          <p:val>
                                            <p:strVal val="0-#ppt_w/2"/>
                                          </p:val>
                                        </p:tav>
                                        <p:tav tm="100000">
                                          <p:val>
                                            <p:strVal val="#ppt_x"/>
                                          </p:val>
                                        </p:tav>
                                      </p:tavLst>
                                    </p:anim>
                                    <p:anim calcmode="lin" valueType="num">
                                      <p:cBhvr>
                                        <p:cTn id="18" dur="1000" fill="hold"/>
                                        <p:tgtEl>
                                          <p:spTgt spid="20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iterate type="lt">
                                    <p:tmAbs val="0"/>
                                  </p:iterate>
                                  <p:childTnLst>
                                    <p:set>
                                      <p:cBhvr>
                                        <p:cTn id="22" fill="hold"/>
                                        <p:tgtEl>
                                          <p:spTgt spid="206">
                                            <p:txEl>
                                              <p:pRg st="2" end="2"/>
                                            </p:txEl>
                                          </p:spTgt>
                                        </p:tgtEl>
                                        <p:attrNameLst>
                                          <p:attrName>style.visibility</p:attrName>
                                        </p:attrNameLst>
                                      </p:cBhvr>
                                      <p:to>
                                        <p:strVal val="visible"/>
                                      </p:to>
                                    </p:set>
                                    <p:anim calcmode="lin" valueType="num">
                                      <p:cBhvr>
                                        <p:cTn id="23" dur="1000" fill="hold"/>
                                        <p:tgtEl>
                                          <p:spTgt spid="206">
                                            <p:txEl>
                                              <p:pRg st="2" end="2"/>
                                            </p:txEl>
                                          </p:spTgt>
                                        </p:tgtEl>
                                        <p:attrNameLst>
                                          <p:attrName>ppt_x</p:attrName>
                                        </p:attrNameLst>
                                      </p:cBhvr>
                                      <p:tavLst>
                                        <p:tav tm="0">
                                          <p:val>
                                            <p:strVal val="0-#ppt_w/2"/>
                                          </p:val>
                                        </p:tav>
                                        <p:tav tm="100000">
                                          <p:val>
                                            <p:strVal val="#ppt_x"/>
                                          </p:val>
                                        </p:tav>
                                      </p:tavLst>
                                    </p:anim>
                                    <p:anim calcmode="lin" valueType="num">
                                      <p:cBhvr>
                                        <p:cTn id="24" dur="1000" fill="hold"/>
                                        <p:tgtEl>
                                          <p:spTgt spid="206">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 grpId="0" build="p" bldLvl="5" animBg="1" advAuto="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8" name="Table 1"/>
          <p:cNvGraphicFramePr/>
          <p:nvPr/>
        </p:nvGraphicFramePr>
        <p:xfrm>
          <a:off x="1313302" y="3048000"/>
          <a:ext cx="10263894" cy="10075052"/>
        </p:xfrm>
        <a:graphic>
          <a:graphicData uri="http://schemas.openxmlformats.org/drawingml/2006/table">
            <a:tbl>
              <a:tblPr firstRow="1">
                <a:tableStyleId>{CF821DB8-F4EB-4A41-A1BA-3FCAFE7338EE}</a:tableStyleId>
              </a:tblPr>
              <a:tblGrid>
                <a:gridCol w="6994726">
                  <a:extLst>
                    <a:ext uri="{9D8B030D-6E8A-4147-A177-3AD203B41FA5}">
                      <a16:colId xmlns:a16="http://schemas.microsoft.com/office/drawing/2014/main" val="20000"/>
                    </a:ext>
                  </a:extLst>
                </a:gridCol>
                <a:gridCol w="3269168">
                  <a:extLst>
                    <a:ext uri="{9D8B030D-6E8A-4147-A177-3AD203B41FA5}">
                      <a16:colId xmlns:a16="http://schemas.microsoft.com/office/drawing/2014/main" val="20001"/>
                    </a:ext>
                  </a:extLst>
                </a:gridCol>
              </a:tblGrid>
              <a:tr h="775004">
                <a:tc>
                  <a:txBody>
                    <a:bodyPr/>
                    <a:lstStyle/>
                    <a:p>
                      <a:pPr algn="l" defTabSz="457200">
                        <a:spcBef>
                          <a:spcPts val="1200"/>
                        </a:spcBef>
                        <a:tabLst>
                          <a:tab pos="1663700" algn="l"/>
                        </a:tabLst>
                      </a:pPr>
                      <a:r>
                        <a:rPr sz="4800">
                          <a:latin typeface="Times Roman"/>
                          <a:ea typeface="Times Roman"/>
                          <a:cs typeface="Times Roman"/>
                          <a:sym typeface="Times Roman"/>
                        </a:rPr>
                        <a:t>Features</a:t>
                      </a:r>
                    </a:p>
                  </a:txBody>
                  <a:tcPr marL="12700" marR="12700" marT="12700" marB="12700" anchor="ctr" horzOverflow="overflow"/>
                </a:tc>
                <a:tc>
                  <a:txBody>
                    <a:bodyPr/>
                    <a:lstStyle/>
                    <a:p>
                      <a:pPr algn="l" defTabSz="457200">
                        <a:spcBef>
                          <a:spcPts val="1200"/>
                        </a:spcBef>
                        <a:tabLst>
                          <a:tab pos="1663700" algn="l"/>
                        </a:tabLst>
                      </a:pPr>
                      <a:r>
                        <a:rPr sz="4800">
                          <a:latin typeface="Times Roman"/>
                          <a:ea typeface="Times Roman"/>
                          <a:cs typeface="Times Roman"/>
                          <a:sym typeface="Times Roman"/>
                        </a:rPr>
                        <a:t>Importance</a:t>
                      </a:r>
                    </a:p>
                  </a:txBody>
                  <a:tcPr marL="12700" marR="12700" marT="12700" marB="12700" anchor="ctr" horzOverflow="overflow"/>
                </a:tc>
                <a:extLst>
                  <a:ext uri="{0D108BD9-81ED-4DB2-BD59-A6C34878D82A}">
                    <a16:rowId xmlns:a16="http://schemas.microsoft.com/office/drawing/2014/main" val="10000"/>
                  </a:ext>
                </a:extLst>
              </a:tr>
              <a:tr h="775004">
                <a:tc>
                  <a:txBody>
                    <a:bodyPr/>
                    <a:lstStyle/>
                    <a:p>
                      <a:pPr algn="l" defTabSz="457200">
                        <a:spcBef>
                          <a:spcPts val="1200"/>
                        </a:spcBef>
                      </a:pPr>
                      <a:r>
                        <a:rPr sz="4800">
                          <a:latin typeface="Times Roman"/>
                          <a:ea typeface="Times Roman"/>
                          <a:cs typeface="Times Roman"/>
                          <a:sym typeface="Times Roman"/>
                        </a:rPr>
                        <a:t>Coughing of Blood</a:t>
                      </a:r>
                    </a:p>
                  </a:txBody>
                  <a:tcPr marL="12700" marR="12700" marT="12700" marB="12700" anchor="ctr" horzOverflow="overflow"/>
                </a:tc>
                <a:tc>
                  <a:txBody>
                    <a:bodyPr/>
                    <a:lstStyle/>
                    <a:p>
                      <a:pPr algn="r" defTabSz="457200">
                        <a:spcBef>
                          <a:spcPts val="1200"/>
                        </a:spcBef>
                      </a:pPr>
                      <a:r>
                        <a:rPr sz="4800">
                          <a:latin typeface="Times Roman"/>
                          <a:ea typeface="Times Roman"/>
                          <a:cs typeface="Times Roman"/>
                          <a:sym typeface="Times Roman"/>
                        </a:rPr>
                        <a:t>0.8635</a:t>
                      </a:r>
                    </a:p>
                  </a:txBody>
                  <a:tcPr marL="12700" marR="12700" marT="12700" marB="12700" anchor="ctr" horzOverflow="overflow"/>
                </a:tc>
                <a:extLst>
                  <a:ext uri="{0D108BD9-81ED-4DB2-BD59-A6C34878D82A}">
                    <a16:rowId xmlns:a16="http://schemas.microsoft.com/office/drawing/2014/main" val="10001"/>
                  </a:ext>
                </a:extLst>
              </a:tr>
              <a:tr h="775004">
                <a:tc>
                  <a:txBody>
                    <a:bodyPr/>
                    <a:lstStyle/>
                    <a:p>
                      <a:pPr algn="l" defTabSz="457200">
                        <a:spcBef>
                          <a:spcPts val="1200"/>
                        </a:spcBef>
                      </a:pPr>
                      <a:r>
                        <a:rPr sz="4800">
                          <a:latin typeface="Times Roman"/>
                          <a:ea typeface="Times Roman"/>
                          <a:cs typeface="Times Roman"/>
                          <a:sym typeface="Times Roman"/>
                        </a:rPr>
                        <a:t>Wheezing</a:t>
                      </a:r>
                    </a:p>
                  </a:txBody>
                  <a:tcPr marL="12700" marR="12700" marT="12700" marB="12700" anchor="ctr" horzOverflow="overflow"/>
                </a:tc>
                <a:tc>
                  <a:txBody>
                    <a:bodyPr/>
                    <a:lstStyle/>
                    <a:p>
                      <a:pPr algn="r" defTabSz="457200">
                        <a:spcBef>
                          <a:spcPts val="1200"/>
                        </a:spcBef>
                      </a:pPr>
                      <a:r>
                        <a:rPr sz="4800">
                          <a:latin typeface="Times Roman"/>
                          <a:ea typeface="Times Roman"/>
                          <a:cs typeface="Times Roman"/>
                          <a:sym typeface="Times Roman"/>
                        </a:rPr>
                        <a:t>0.7455</a:t>
                      </a:r>
                    </a:p>
                  </a:txBody>
                  <a:tcPr marL="12700" marR="12700" marT="12700" marB="12700" anchor="ctr" horzOverflow="overflow"/>
                </a:tc>
                <a:extLst>
                  <a:ext uri="{0D108BD9-81ED-4DB2-BD59-A6C34878D82A}">
                    <a16:rowId xmlns:a16="http://schemas.microsoft.com/office/drawing/2014/main" val="10002"/>
                  </a:ext>
                </a:extLst>
              </a:tr>
              <a:tr h="775004">
                <a:tc>
                  <a:txBody>
                    <a:bodyPr/>
                    <a:lstStyle/>
                    <a:p>
                      <a:pPr algn="l" defTabSz="457200">
                        <a:spcBef>
                          <a:spcPts val="1200"/>
                        </a:spcBef>
                      </a:pPr>
                      <a:r>
                        <a:rPr sz="4800">
                          <a:latin typeface="Times Roman"/>
                          <a:ea typeface="Times Roman"/>
                          <a:cs typeface="Times Roman"/>
                          <a:sym typeface="Times Roman"/>
                        </a:rPr>
                        <a:t>Chest Pain</a:t>
                      </a:r>
                    </a:p>
                  </a:txBody>
                  <a:tcPr marL="12700" marR="12700" marT="12700" marB="12700" anchor="ctr" horzOverflow="overflow"/>
                </a:tc>
                <a:tc>
                  <a:txBody>
                    <a:bodyPr/>
                    <a:lstStyle/>
                    <a:p>
                      <a:pPr algn="r" defTabSz="457200">
                        <a:spcBef>
                          <a:spcPts val="1200"/>
                        </a:spcBef>
                      </a:pPr>
                      <a:r>
                        <a:rPr sz="4800">
                          <a:latin typeface="Times Roman"/>
                          <a:ea typeface="Times Roman"/>
                          <a:cs typeface="Times Roman"/>
                          <a:sym typeface="Times Roman"/>
                        </a:rPr>
                        <a:t>0.7405</a:t>
                      </a:r>
                    </a:p>
                  </a:txBody>
                  <a:tcPr marL="12700" marR="12700" marT="12700" marB="12700" anchor="ctr" horzOverflow="overflow"/>
                </a:tc>
                <a:extLst>
                  <a:ext uri="{0D108BD9-81ED-4DB2-BD59-A6C34878D82A}">
                    <a16:rowId xmlns:a16="http://schemas.microsoft.com/office/drawing/2014/main" val="10003"/>
                  </a:ext>
                </a:extLst>
              </a:tr>
              <a:tr h="775004">
                <a:tc>
                  <a:txBody>
                    <a:bodyPr/>
                    <a:lstStyle/>
                    <a:p>
                      <a:pPr algn="l" defTabSz="457200">
                        <a:spcBef>
                          <a:spcPts val="1200"/>
                        </a:spcBef>
                      </a:pPr>
                      <a:r>
                        <a:rPr sz="4800">
                          <a:latin typeface="Times Roman"/>
                          <a:ea typeface="Times Roman"/>
                          <a:cs typeface="Times Roman"/>
                          <a:sym typeface="Times Roman"/>
                        </a:rPr>
                        <a:t>Dust Allergy</a:t>
                      </a:r>
                    </a:p>
                  </a:txBody>
                  <a:tcPr marL="12700" marR="12700" marT="12700" marB="12700" anchor="ctr" horzOverflow="overflow"/>
                </a:tc>
                <a:tc>
                  <a:txBody>
                    <a:bodyPr/>
                    <a:lstStyle/>
                    <a:p>
                      <a:pPr algn="r" defTabSz="457200">
                        <a:spcBef>
                          <a:spcPts val="1200"/>
                        </a:spcBef>
                      </a:pPr>
                      <a:r>
                        <a:rPr sz="4800">
                          <a:latin typeface="Times Roman"/>
                          <a:ea typeface="Times Roman"/>
                          <a:cs typeface="Times Roman"/>
                          <a:sym typeface="Times Roman"/>
                        </a:rPr>
                        <a:t>0.6667</a:t>
                      </a:r>
                    </a:p>
                  </a:txBody>
                  <a:tcPr marL="12700" marR="12700" marT="12700" marB="12700" anchor="ctr" horzOverflow="overflow"/>
                </a:tc>
                <a:extLst>
                  <a:ext uri="{0D108BD9-81ED-4DB2-BD59-A6C34878D82A}">
                    <a16:rowId xmlns:a16="http://schemas.microsoft.com/office/drawing/2014/main" val="10004"/>
                  </a:ext>
                </a:extLst>
              </a:tr>
              <a:tr h="775004">
                <a:tc>
                  <a:txBody>
                    <a:bodyPr/>
                    <a:lstStyle/>
                    <a:p>
                      <a:pPr algn="l" defTabSz="457200">
                        <a:spcBef>
                          <a:spcPts val="1200"/>
                        </a:spcBef>
                      </a:pPr>
                      <a:r>
                        <a:rPr sz="4800">
                          <a:latin typeface="Times Roman"/>
                          <a:ea typeface="Times Roman"/>
                          <a:cs typeface="Times Roman"/>
                          <a:sym typeface="Times Roman"/>
                        </a:rPr>
                        <a:t>Smoking</a:t>
                      </a:r>
                    </a:p>
                  </a:txBody>
                  <a:tcPr marL="12700" marR="12700" marT="12700" marB="12700" anchor="ctr" horzOverflow="overflow"/>
                </a:tc>
                <a:tc>
                  <a:txBody>
                    <a:bodyPr/>
                    <a:lstStyle/>
                    <a:p>
                      <a:pPr algn="r" defTabSz="457200">
                        <a:spcBef>
                          <a:spcPts val="1200"/>
                        </a:spcBef>
                      </a:pPr>
                      <a:r>
                        <a:rPr sz="4800">
                          <a:latin typeface="Times Roman"/>
                          <a:ea typeface="Times Roman"/>
                          <a:cs typeface="Times Roman"/>
                          <a:sym typeface="Times Roman"/>
                        </a:rPr>
                        <a:t>0.6136</a:t>
                      </a:r>
                    </a:p>
                  </a:txBody>
                  <a:tcPr marL="12700" marR="12700" marT="12700" marB="12700" anchor="ctr" horzOverflow="overflow"/>
                </a:tc>
                <a:extLst>
                  <a:ext uri="{0D108BD9-81ED-4DB2-BD59-A6C34878D82A}">
                    <a16:rowId xmlns:a16="http://schemas.microsoft.com/office/drawing/2014/main" val="10005"/>
                  </a:ext>
                </a:extLst>
              </a:tr>
              <a:tr h="775004">
                <a:tc>
                  <a:txBody>
                    <a:bodyPr/>
                    <a:lstStyle/>
                    <a:p>
                      <a:pPr algn="l" defTabSz="457200">
                        <a:spcBef>
                          <a:spcPts val="1200"/>
                        </a:spcBef>
                      </a:pPr>
                      <a:r>
                        <a:rPr sz="4800">
                          <a:latin typeface="Times Roman"/>
                          <a:ea typeface="Times Roman"/>
                          <a:cs typeface="Times Roman"/>
                          <a:sym typeface="Times Roman"/>
                        </a:rPr>
                        <a:t>Occupational hazards</a:t>
                      </a:r>
                    </a:p>
                  </a:txBody>
                  <a:tcPr marL="12700" marR="12700" marT="12700" marB="12700" anchor="ctr" horzOverflow="overflow"/>
                </a:tc>
                <a:tc>
                  <a:txBody>
                    <a:bodyPr/>
                    <a:lstStyle/>
                    <a:p>
                      <a:pPr algn="r" defTabSz="457200">
                        <a:spcBef>
                          <a:spcPts val="1200"/>
                        </a:spcBef>
                      </a:pPr>
                      <a:r>
                        <a:rPr sz="4800">
                          <a:latin typeface="Times Roman"/>
                          <a:ea typeface="Times Roman"/>
                          <a:cs typeface="Times Roman"/>
                          <a:sym typeface="Times Roman"/>
                        </a:rPr>
                        <a:t>0.5766</a:t>
                      </a:r>
                    </a:p>
                  </a:txBody>
                  <a:tcPr marL="12700" marR="12700" marT="12700" marB="12700" anchor="ctr" horzOverflow="overflow"/>
                </a:tc>
                <a:extLst>
                  <a:ext uri="{0D108BD9-81ED-4DB2-BD59-A6C34878D82A}">
                    <a16:rowId xmlns:a16="http://schemas.microsoft.com/office/drawing/2014/main" val="10006"/>
                  </a:ext>
                </a:extLst>
              </a:tr>
              <a:tr h="775004">
                <a:tc>
                  <a:txBody>
                    <a:bodyPr/>
                    <a:lstStyle/>
                    <a:p>
                      <a:pPr algn="l" defTabSz="457200">
                        <a:spcBef>
                          <a:spcPts val="1200"/>
                        </a:spcBef>
                      </a:pPr>
                      <a:r>
                        <a:rPr sz="4800">
                          <a:latin typeface="Times Roman"/>
                          <a:ea typeface="Times Roman"/>
                          <a:cs typeface="Times Roman"/>
                          <a:sym typeface="Times Roman"/>
                        </a:rPr>
                        <a:t>Air Pollution</a:t>
                      </a:r>
                    </a:p>
                  </a:txBody>
                  <a:tcPr marL="12700" marR="12700" marT="12700" marB="12700" anchor="ctr" horzOverflow="overflow"/>
                </a:tc>
                <a:tc>
                  <a:txBody>
                    <a:bodyPr/>
                    <a:lstStyle/>
                    <a:p>
                      <a:pPr algn="r" defTabSz="457200">
                        <a:spcBef>
                          <a:spcPts val="1200"/>
                        </a:spcBef>
                      </a:pPr>
                      <a:r>
                        <a:rPr sz="4800">
                          <a:latin typeface="Times Roman"/>
                          <a:ea typeface="Times Roman"/>
                          <a:cs typeface="Times Roman"/>
                          <a:sym typeface="Times Roman"/>
                        </a:rPr>
                        <a:t>0.5745</a:t>
                      </a:r>
                    </a:p>
                  </a:txBody>
                  <a:tcPr marL="12700" marR="12700" marT="12700" marB="12700" anchor="ctr" horzOverflow="overflow"/>
                </a:tc>
                <a:extLst>
                  <a:ext uri="{0D108BD9-81ED-4DB2-BD59-A6C34878D82A}">
                    <a16:rowId xmlns:a16="http://schemas.microsoft.com/office/drawing/2014/main" val="10007"/>
                  </a:ext>
                </a:extLst>
              </a:tr>
              <a:tr h="775004">
                <a:tc>
                  <a:txBody>
                    <a:bodyPr/>
                    <a:lstStyle/>
                    <a:p>
                      <a:pPr algn="l" defTabSz="457200">
                        <a:spcBef>
                          <a:spcPts val="1200"/>
                        </a:spcBef>
                      </a:pPr>
                      <a:r>
                        <a:rPr sz="4800">
                          <a:latin typeface="Times Roman"/>
                          <a:ea typeface="Times Roman"/>
                          <a:cs typeface="Times Roman"/>
                          <a:sym typeface="Times Roman"/>
                        </a:rPr>
                        <a:t>Fatigue</a:t>
                      </a:r>
                    </a:p>
                  </a:txBody>
                  <a:tcPr marL="12700" marR="12700" marT="12700" marB="12700" anchor="ctr" horzOverflow="overflow"/>
                </a:tc>
                <a:tc>
                  <a:txBody>
                    <a:bodyPr/>
                    <a:lstStyle/>
                    <a:p>
                      <a:pPr algn="r" defTabSz="457200">
                        <a:spcBef>
                          <a:spcPts val="1200"/>
                        </a:spcBef>
                      </a:pPr>
                      <a:r>
                        <a:rPr sz="4800">
                          <a:latin typeface="Times Roman"/>
                          <a:ea typeface="Times Roman"/>
                          <a:cs typeface="Times Roman"/>
                          <a:sym typeface="Times Roman"/>
                        </a:rPr>
                        <a:t>0.5496</a:t>
                      </a:r>
                    </a:p>
                  </a:txBody>
                  <a:tcPr marL="12700" marR="12700" marT="12700" marB="12700" anchor="ctr" horzOverflow="overflow"/>
                </a:tc>
                <a:extLst>
                  <a:ext uri="{0D108BD9-81ED-4DB2-BD59-A6C34878D82A}">
                    <a16:rowId xmlns:a16="http://schemas.microsoft.com/office/drawing/2014/main" val="10008"/>
                  </a:ext>
                </a:extLst>
              </a:tr>
              <a:tr h="775004">
                <a:tc>
                  <a:txBody>
                    <a:bodyPr/>
                    <a:lstStyle/>
                    <a:p>
                      <a:pPr algn="l" defTabSz="457200">
                        <a:spcBef>
                          <a:spcPts val="1200"/>
                        </a:spcBef>
                      </a:pPr>
                      <a:r>
                        <a:rPr sz="4800">
                          <a:latin typeface="Times Roman"/>
                          <a:ea typeface="Times Roman"/>
                          <a:cs typeface="Times Roman"/>
                          <a:sym typeface="Times Roman"/>
                        </a:rPr>
                        <a:t>Clubbing of Finger Nails</a:t>
                      </a:r>
                    </a:p>
                  </a:txBody>
                  <a:tcPr marL="12700" marR="12700" marT="12700" marB="12700" anchor="ctr" horzOverflow="overflow"/>
                </a:tc>
                <a:tc>
                  <a:txBody>
                    <a:bodyPr/>
                    <a:lstStyle/>
                    <a:p>
                      <a:pPr algn="r" defTabSz="457200">
                        <a:spcBef>
                          <a:spcPts val="1200"/>
                        </a:spcBef>
                      </a:pPr>
                      <a:r>
                        <a:rPr sz="4800">
                          <a:latin typeface="Times Roman"/>
                          <a:ea typeface="Times Roman"/>
                          <a:cs typeface="Times Roman"/>
                          <a:sym typeface="Times Roman"/>
                        </a:rPr>
                        <a:t>0.4141</a:t>
                      </a:r>
                    </a:p>
                  </a:txBody>
                  <a:tcPr marL="12700" marR="12700" marT="12700" marB="12700" anchor="ctr" horzOverflow="overflow"/>
                </a:tc>
                <a:extLst>
                  <a:ext uri="{0D108BD9-81ED-4DB2-BD59-A6C34878D82A}">
                    <a16:rowId xmlns:a16="http://schemas.microsoft.com/office/drawing/2014/main" val="10009"/>
                  </a:ext>
                </a:extLst>
              </a:tr>
              <a:tr h="775004">
                <a:tc>
                  <a:txBody>
                    <a:bodyPr/>
                    <a:lstStyle/>
                    <a:p>
                      <a:pPr algn="l" defTabSz="457200">
                        <a:spcBef>
                          <a:spcPts val="1200"/>
                        </a:spcBef>
                      </a:pPr>
                      <a:r>
                        <a:rPr sz="4800">
                          <a:latin typeface="Times Roman"/>
                          <a:ea typeface="Times Roman"/>
                          <a:cs typeface="Times Roman"/>
                          <a:sym typeface="Times Roman"/>
                        </a:rPr>
                        <a:t>Age</a:t>
                      </a:r>
                    </a:p>
                  </a:txBody>
                  <a:tcPr marL="12700" marR="12700" marT="12700" marB="12700" anchor="ctr" horzOverflow="overflow"/>
                </a:tc>
                <a:tc>
                  <a:txBody>
                    <a:bodyPr/>
                    <a:lstStyle/>
                    <a:p>
                      <a:pPr algn="r" defTabSz="457200">
                        <a:spcBef>
                          <a:spcPts val="1200"/>
                        </a:spcBef>
                      </a:pPr>
                      <a:r>
                        <a:rPr sz="4800">
                          <a:latin typeface="Times Roman"/>
                          <a:ea typeface="Times Roman"/>
                          <a:cs typeface="Times Roman"/>
                          <a:sym typeface="Times Roman"/>
                        </a:rPr>
                        <a:t>0.4111</a:t>
                      </a:r>
                    </a:p>
                  </a:txBody>
                  <a:tcPr marL="12700" marR="12700" marT="12700" marB="12700" anchor="ctr" horzOverflow="overflow"/>
                </a:tc>
                <a:extLst>
                  <a:ext uri="{0D108BD9-81ED-4DB2-BD59-A6C34878D82A}">
                    <a16:rowId xmlns:a16="http://schemas.microsoft.com/office/drawing/2014/main" val="10010"/>
                  </a:ext>
                </a:extLst>
              </a:tr>
              <a:tr h="775004">
                <a:tc>
                  <a:txBody>
                    <a:bodyPr/>
                    <a:lstStyle/>
                    <a:p>
                      <a:pPr algn="l" defTabSz="457200">
                        <a:spcBef>
                          <a:spcPts val="1200"/>
                        </a:spcBef>
                      </a:pPr>
                      <a:r>
                        <a:rPr sz="4800">
                          <a:latin typeface="Times Roman"/>
                          <a:ea typeface="Times Roman"/>
                          <a:cs typeface="Times Roman"/>
                          <a:sym typeface="Times Roman"/>
                        </a:rPr>
                        <a:t>Frequent Cold</a:t>
                      </a:r>
                    </a:p>
                  </a:txBody>
                  <a:tcPr marL="12700" marR="12700" marT="12700" marB="12700" anchor="ctr" horzOverflow="overflow"/>
                </a:tc>
                <a:tc>
                  <a:txBody>
                    <a:bodyPr/>
                    <a:lstStyle/>
                    <a:p>
                      <a:pPr algn="r" defTabSz="457200">
                        <a:spcBef>
                          <a:spcPts val="1200"/>
                        </a:spcBef>
                      </a:pPr>
                      <a:r>
                        <a:rPr sz="4800">
                          <a:latin typeface="Times Roman"/>
                          <a:ea typeface="Times Roman"/>
                          <a:cs typeface="Times Roman"/>
                          <a:sym typeface="Times Roman"/>
                        </a:rPr>
                        <a:t>0.3643</a:t>
                      </a:r>
                    </a:p>
                  </a:txBody>
                  <a:tcPr marL="12700" marR="12700" marT="12700" marB="12700" anchor="ctr" horzOverflow="overflow"/>
                </a:tc>
                <a:extLst>
                  <a:ext uri="{0D108BD9-81ED-4DB2-BD59-A6C34878D82A}">
                    <a16:rowId xmlns:a16="http://schemas.microsoft.com/office/drawing/2014/main" val="10011"/>
                  </a:ext>
                </a:extLst>
              </a:tr>
              <a:tr h="775004">
                <a:tc>
                  <a:txBody>
                    <a:bodyPr/>
                    <a:lstStyle/>
                    <a:p>
                      <a:pPr algn="l" defTabSz="457200">
                        <a:spcBef>
                          <a:spcPts val="1200"/>
                        </a:spcBef>
                      </a:pPr>
                      <a:r>
                        <a:rPr sz="4800">
                          <a:latin typeface="Times Roman"/>
                          <a:ea typeface="Times Roman"/>
                          <a:cs typeface="Times Roman"/>
                          <a:sym typeface="Times Roman"/>
                        </a:rPr>
                        <a:t>Gender</a:t>
                      </a:r>
                    </a:p>
                  </a:txBody>
                  <a:tcPr marL="12700" marR="12700" marT="12700" marB="12700" anchor="ctr" horzOverflow="overflow"/>
                </a:tc>
                <a:tc>
                  <a:txBody>
                    <a:bodyPr/>
                    <a:lstStyle/>
                    <a:p>
                      <a:pPr algn="r" defTabSz="457200">
                        <a:spcBef>
                          <a:spcPts val="1200"/>
                        </a:spcBef>
                      </a:pPr>
                      <a:r>
                        <a:rPr sz="4800">
                          <a:latin typeface="Times Roman"/>
                          <a:ea typeface="Times Roman"/>
                          <a:cs typeface="Times Roman"/>
                          <a:sym typeface="Times Roman"/>
                        </a:rPr>
                        <a:t>0.0197</a:t>
                      </a:r>
                    </a:p>
                  </a:txBody>
                  <a:tcPr marL="12700" marR="12700" marT="12700" marB="12700" anchor="ctr" horzOverflow="overflow"/>
                </a:tc>
                <a:extLst>
                  <a:ext uri="{0D108BD9-81ED-4DB2-BD59-A6C34878D82A}">
                    <a16:rowId xmlns:a16="http://schemas.microsoft.com/office/drawing/2014/main" val="10012"/>
                  </a:ext>
                </a:extLst>
              </a:tr>
            </a:tbl>
          </a:graphicData>
        </a:graphic>
      </p:graphicFrame>
      <p:sp>
        <p:nvSpPr>
          <p:cNvPr id="209" name="Important Features"/>
          <p:cNvSpPr txBox="1">
            <a:spLocks noGrp="1"/>
          </p:cNvSpPr>
          <p:nvPr>
            <p:ph type="title" idx="4294967295"/>
          </p:nvPr>
        </p:nvSpPr>
        <p:spPr>
          <a:xfrm>
            <a:off x="1206500" y="952500"/>
            <a:ext cx="10477500" cy="1435100"/>
          </a:xfrm>
          <a:prstGeom prst="rect">
            <a:avLst/>
          </a:prstGeom>
        </p:spPr>
        <p:txBody>
          <a:bodyPr/>
          <a:lstStyle/>
          <a:p>
            <a:r>
              <a:t>Important Features</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iterate>
                                    <p:tmAbs val="0"/>
                                  </p:iterate>
                                  <p:childTnLst>
                                    <p:set>
                                      <p:cBhvr>
                                        <p:cTn id="6" fill="hold"/>
                                        <p:tgtEl>
                                          <p:spTgt spid="208"/>
                                        </p:tgtEl>
                                        <p:attrNameLst>
                                          <p:attrName>style.visibility</p:attrName>
                                        </p:attrNameLst>
                                      </p:cBhvr>
                                      <p:to>
                                        <p:strVal val="visible"/>
                                      </p:to>
                                    </p:set>
                                    <p:anim calcmode="lin" valueType="num">
                                      <p:cBhvr>
                                        <p:cTn id="7" dur="1000" fill="hold"/>
                                        <p:tgtEl>
                                          <p:spTgt spid="208"/>
                                        </p:tgtEl>
                                        <p:attrNameLst>
                                          <p:attrName>ppt_w</p:attrName>
                                        </p:attrNameLst>
                                      </p:cBhvr>
                                      <p:tavLst>
                                        <p:tav tm="0">
                                          <p:val>
                                            <p:fltVal val="0"/>
                                          </p:val>
                                        </p:tav>
                                        <p:tav tm="100000">
                                          <p:val>
                                            <p:strVal val="#ppt_w"/>
                                          </p:val>
                                        </p:tav>
                                      </p:tavLst>
                                    </p:anim>
                                    <p:anim calcmode="lin" valueType="num">
                                      <p:cBhvr>
                                        <p:cTn id="8" dur="1000" fill="hold"/>
                                        <p:tgtEl>
                                          <p:spTgt spid="20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 grpId="0" animBg="1" advAuto="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Model Selection"/>
          <p:cNvSpPr txBox="1">
            <a:spLocks noGrp="1"/>
          </p:cNvSpPr>
          <p:nvPr>
            <p:ph type="title"/>
          </p:nvPr>
        </p:nvSpPr>
        <p:spPr>
          <a:prstGeom prst="rect">
            <a:avLst/>
          </a:prstGeom>
        </p:spPr>
        <p:txBody>
          <a:bodyPr/>
          <a:lstStyle/>
          <a:p>
            <a:r>
              <a:t>Model Selection</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Model Selection"/>
          <p:cNvSpPr txBox="1">
            <a:spLocks noGrp="1"/>
          </p:cNvSpPr>
          <p:nvPr>
            <p:ph type="title"/>
          </p:nvPr>
        </p:nvSpPr>
        <p:spPr>
          <a:prstGeom prst="rect">
            <a:avLst/>
          </a:prstGeom>
        </p:spPr>
        <p:txBody>
          <a:bodyPr/>
          <a:lstStyle/>
          <a:p>
            <a:r>
              <a:t>Model Selection</a:t>
            </a:r>
          </a:p>
        </p:txBody>
      </p:sp>
      <p:sp>
        <p:nvSpPr>
          <p:cNvPr id="214" name="We split our dataset into 70-30 ratios for training and testing.…"/>
          <p:cNvSpPr txBox="1">
            <a:spLocks noGrp="1"/>
          </p:cNvSpPr>
          <p:nvPr>
            <p:ph type="body" idx="1"/>
          </p:nvPr>
        </p:nvSpPr>
        <p:spPr>
          <a:xfrm>
            <a:off x="1206500" y="3458683"/>
            <a:ext cx="21971000" cy="9045833"/>
          </a:xfrm>
          <a:prstGeom prst="rect">
            <a:avLst/>
          </a:prstGeom>
        </p:spPr>
        <p:txBody>
          <a:bodyPr/>
          <a:lstStyle/>
          <a:p>
            <a:r>
              <a:t>We split our dataset into 70-30 ratios for training and testing.</a:t>
            </a:r>
          </a:p>
          <a:p>
            <a:r>
              <a:t>For this dataset, we are going with 3 model algorithms:</a:t>
            </a:r>
          </a:p>
          <a:p>
            <a:pPr lvl="1"/>
            <a:r>
              <a:t>Decision Tree</a:t>
            </a:r>
          </a:p>
          <a:p>
            <a:pPr lvl="1"/>
            <a:r>
              <a:t>Random Forest</a:t>
            </a:r>
          </a:p>
          <a:p>
            <a:pPr lvl="1"/>
            <a:r>
              <a:t>Logistic Regression</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iterate type="lt">
                                    <p:tmAbs val="0"/>
                                  </p:iterate>
                                  <p:childTnLst>
                                    <p:set>
                                      <p:cBhvr>
                                        <p:cTn id="6" fill="hold"/>
                                        <p:tgtEl>
                                          <p:spTgt spid="214">
                                            <p:bg/>
                                          </p:spTgt>
                                        </p:tgtEl>
                                        <p:attrNameLst>
                                          <p:attrName>style.visibility</p:attrName>
                                        </p:attrNameLst>
                                      </p:cBhvr>
                                      <p:to>
                                        <p:strVal val="visible"/>
                                      </p:to>
                                    </p:set>
                                    <p:anim calcmode="lin" valueType="num">
                                      <p:cBhvr>
                                        <p:cTn id="7" dur="1000" fill="hold"/>
                                        <p:tgtEl>
                                          <p:spTgt spid="214">
                                            <p:bg/>
                                          </p:spTgt>
                                        </p:tgtEl>
                                        <p:attrNameLst>
                                          <p:attrName>ppt_x</p:attrName>
                                        </p:attrNameLst>
                                      </p:cBhvr>
                                      <p:tavLst>
                                        <p:tav tm="0">
                                          <p:val>
                                            <p:strVal val="0-#ppt_w/2"/>
                                          </p:val>
                                        </p:tav>
                                        <p:tav tm="100000">
                                          <p:val>
                                            <p:strVal val="#ppt_x"/>
                                          </p:val>
                                        </p:tav>
                                      </p:tavLst>
                                    </p:anim>
                                    <p:anim calcmode="lin" valueType="num">
                                      <p:cBhvr>
                                        <p:cTn id="8" dur="1000" fill="hold"/>
                                        <p:tgtEl>
                                          <p:spTgt spid="214">
                                            <p:bg/>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iterate type="lt">
                                    <p:tmAbs val="0"/>
                                  </p:iterate>
                                  <p:childTnLst>
                                    <p:set>
                                      <p:cBhvr>
                                        <p:cTn id="10" fill="hold"/>
                                        <p:tgtEl>
                                          <p:spTgt spid="214">
                                            <p:txEl>
                                              <p:pRg st="0" end="0"/>
                                            </p:txEl>
                                          </p:spTgt>
                                        </p:tgtEl>
                                        <p:attrNameLst>
                                          <p:attrName>style.visibility</p:attrName>
                                        </p:attrNameLst>
                                      </p:cBhvr>
                                      <p:to>
                                        <p:strVal val="visible"/>
                                      </p:to>
                                    </p:set>
                                    <p:anim calcmode="lin" valueType="num">
                                      <p:cBhvr>
                                        <p:cTn id="11" dur="1000" fill="hold"/>
                                        <p:tgtEl>
                                          <p:spTgt spid="214">
                                            <p:txEl>
                                              <p:pRg st="0" end="0"/>
                                            </p:txEl>
                                          </p:spTgt>
                                        </p:tgtEl>
                                        <p:attrNameLst>
                                          <p:attrName>ppt_x</p:attrName>
                                        </p:attrNameLst>
                                      </p:cBhvr>
                                      <p:tavLst>
                                        <p:tav tm="0">
                                          <p:val>
                                            <p:strVal val="0-#ppt_w/2"/>
                                          </p:val>
                                        </p:tav>
                                        <p:tav tm="100000">
                                          <p:val>
                                            <p:strVal val="#ppt_x"/>
                                          </p:val>
                                        </p:tav>
                                      </p:tavLst>
                                    </p:anim>
                                    <p:anim calcmode="lin" valueType="num">
                                      <p:cBhvr>
                                        <p:cTn id="12" dur="1000" fill="hold"/>
                                        <p:tgtEl>
                                          <p:spTgt spid="21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iterate type="lt">
                                    <p:tmAbs val="0"/>
                                  </p:iterate>
                                  <p:childTnLst>
                                    <p:set>
                                      <p:cBhvr>
                                        <p:cTn id="16" fill="hold"/>
                                        <p:tgtEl>
                                          <p:spTgt spid="214">
                                            <p:txEl>
                                              <p:pRg st="1" end="1"/>
                                            </p:txEl>
                                          </p:spTgt>
                                        </p:tgtEl>
                                        <p:attrNameLst>
                                          <p:attrName>style.visibility</p:attrName>
                                        </p:attrNameLst>
                                      </p:cBhvr>
                                      <p:to>
                                        <p:strVal val="visible"/>
                                      </p:to>
                                    </p:set>
                                    <p:anim calcmode="lin" valueType="num">
                                      <p:cBhvr>
                                        <p:cTn id="17" dur="1000" fill="hold"/>
                                        <p:tgtEl>
                                          <p:spTgt spid="214">
                                            <p:txEl>
                                              <p:pRg st="1" end="1"/>
                                            </p:txEl>
                                          </p:spTgt>
                                        </p:tgtEl>
                                        <p:attrNameLst>
                                          <p:attrName>ppt_x</p:attrName>
                                        </p:attrNameLst>
                                      </p:cBhvr>
                                      <p:tavLst>
                                        <p:tav tm="0">
                                          <p:val>
                                            <p:strVal val="0-#ppt_w/2"/>
                                          </p:val>
                                        </p:tav>
                                        <p:tav tm="100000">
                                          <p:val>
                                            <p:strVal val="#ppt_x"/>
                                          </p:val>
                                        </p:tav>
                                      </p:tavLst>
                                    </p:anim>
                                    <p:anim calcmode="lin" valueType="num">
                                      <p:cBhvr>
                                        <p:cTn id="18" dur="1000" fill="hold"/>
                                        <p:tgtEl>
                                          <p:spTgt spid="21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iterate type="lt">
                                    <p:tmAbs val="0"/>
                                  </p:iterate>
                                  <p:childTnLst>
                                    <p:set>
                                      <p:cBhvr>
                                        <p:cTn id="22" fill="hold"/>
                                        <p:tgtEl>
                                          <p:spTgt spid="214">
                                            <p:txEl>
                                              <p:pRg st="2" end="2"/>
                                            </p:txEl>
                                          </p:spTgt>
                                        </p:tgtEl>
                                        <p:attrNameLst>
                                          <p:attrName>style.visibility</p:attrName>
                                        </p:attrNameLst>
                                      </p:cBhvr>
                                      <p:to>
                                        <p:strVal val="visible"/>
                                      </p:to>
                                    </p:set>
                                    <p:anim calcmode="lin" valueType="num">
                                      <p:cBhvr>
                                        <p:cTn id="23" dur="1000" fill="hold"/>
                                        <p:tgtEl>
                                          <p:spTgt spid="214">
                                            <p:txEl>
                                              <p:pRg st="2" end="2"/>
                                            </p:txEl>
                                          </p:spTgt>
                                        </p:tgtEl>
                                        <p:attrNameLst>
                                          <p:attrName>ppt_x</p:attrName>
                                        </p:attrNameLst>
                                      </p:cBhvr>
                                      <p:tavLst>
                                        <p:tav tm="0">
                                          <p:val>
                                            <p:strVal val="0-#ppt_w/2"/>
                                          </p:val>
                                        </p:tav>
                                        <p:tav tm="100000">
                                          <p:val>
                                            <p:strVal val="#ppt_x"/>
                                          </p:val>
                                        </p:tav>
                                      </p:tavLst>
                                    </p:anim>
                                    <p:anim calcmode="lin" valueType="num">
                                      <p:cBhvr>
                                        <p:cTn id="24" dur="1000" fill="hold"/>
                                        <p:tgtEl>
                                          <p:spTgt spid="21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iterate type="lt">
                                    <p:tmAbs val="0"/>
                                  </p:iterate>
                                  <p:childTnLst>
                                    <p:set>
                                      <p:cBhvr>
                                        <p:cTn id="28" fill="hold"/>
                                        <p:tgtEl>
                                          <p:spTgt spid="214">
                                            <p:txEl>
                                              <p:pRg st="3" end="3"/>
                                            </p:txEl>
                                          </p:spTgt>
                                        </p:tgtEl>
                                        <p:attrNameLst>
                                          <p:attrName>style.visibility</p:attrName>
                                        </p:attrNameLst>
                                      </p:cBhvr>
                                      <p:to>
                                        <p:strVal val="visible"/>
                                      </p:to>
                                    </p:set>
                                    <p:anim calcmode="lin" valueType="num">
                                      <p:cBhvr>
                                        <p:cTn id="29" dur="1000" fill="hold"/>
                                        <p:tgtEl>
                                          <p:spTgt spid="214">
                                            <p:txEl>
                                              <p:pRg st="3" end="3"/>
                                            </p:txEl>
                                          </p:spTgt>
                                        </p:tgtEl>
                                        <p:attrNameLst>
                                          <p:attrName>ppt_x</p:attrName>
                                        </p:attrNameLst>
                                      </p:cBhvr>
                                      <p:tavLst>
                                        <p:tav tm="0">
                                          <p:val>
                                            <p:strVal val="0-#ppt_w/2"/>
                                          </p:val>
                                        </p:tav>
                                        <p:tav tm="100000">
                                          <p:val>
                                            <p:strVal val="#ppt_x"/>
                                          </p:val>
                                        </p:tav>
                                      </p:tavLst>
                                    </p:anim>
                                    <p:anim calcmode="lin" valueType="num">
                                      <p:cBhvr>
                                        <p:cTn id="30" dur="1000" fill="hold"/>
                                        <p:tgtEl>
                                          <p:spTgt spid="21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iterate type="lt">
                                    <p:tmAbs val="0"/>
                                  </p:iterate>
                                  <p:childTnLst>
                                    <p:set>
                                      <p:cBhvr>
                                        <p:cTn id="34" fill="hold"/>
                                        <p:tgtEl>
                                          <p:spTgt spid="214">
                                            <p:txEl>
                                              <p:pRg st="4" end="4"/>
                                            </p:txEl>
                                          </p:spTgt>
                                        </p:tgtEl>
                                        <p:attrNameLst>
                                          <p:attrName>style.visibility</p:attrName>
                                        </p:attrNameLst>
                                      </p:cBhvr>
                                      <p:to>
                                        <p:strVal val="visible"/>
                                      </p:to>
                                    </p:set>
                                    <p:anim calcmode="lin" valueType="num">
                                      <p:cBhvr>
                                        <p:cTn id="35" dur="1000" fill="hold"/>
                                        <p:tgtEl>
                                          <p:spTgt spid="214">
                                            <p:txEl>
                                              <p:pRg st="4" end="4"/>
                                            </p:txEl>
                                          </p:spTgt>
                                        </p:tgtEl>
                                        <p:attrNameLst>
                                          <p:attrName>ppt_x</p:attrName>
                                        </p:attrNameLst>
                                      </p:cBhvr>
                                      <p:tavLst>
                                        <p:tav tm="0">
                                          <p:val>
                                            <p:strVal val="0-#ppt_w/2"/>
                                          </p:val>
                                        </p:tav>
                                        <p:tav tm="100000">
                                          <p:val>
                                            <p:strVal val="#ppt_x"/>
                                          </p:val>
                                        </p:tav>
                                      </p:tavLst>
                                    </p:anim>
                                    <p:anim calcmode="lin" valueType="num">
                                      <p:cBhvr>
                                        <p:cTn id="36" dur="1000" fill="hold"/>
                                        <p:tgtEl>
                                          <p:spTgt spid="214">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 grpId="0" build="p" bldLvl="5" animBg="1" advAuto="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Model Evaluation"/>
          <p:cNvSpPr txBox="1">
            <a:spLocks noGrp="1"/>
          </p:cNvSpPr>
          <p:nvPr>
            <p:ph type="title"/>
          </p:nvPr>
        </p:nvSpPr>
        <p:spPr>
          <a:prstGeom prst="rect">
            <a:avLst/>
          </a:prstGeom>
        </p:spPr>
        <p:txBody>
          <a:bodyPr/>
          <a:lstStyle/>
          <a:p>
            <a:r>
              <a:t>Model Evaluation </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Decision Tree"/>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t>Decision Tree</a:t>
            </a:r>
          </a:p>
        </p:txBody>
      </p:sp>
      <p:sp>
        <p:nvSpPr>
          <p:cNvPr id="219" name="In the decision tree, our accuracy is 97.5%, and our 10-fold Cross-validation is 98.7%.…"/>
          <p:cNvSpPr txBox="1">
            <a:spLocks noGrp="1"/>
          </p:cNvSpPr>
          <p:nvPr>
            <p:ph type="body" sz="half" idx="1"/>
          </p:nvPr>
        </p:nvSpPr>
        <p:spPr>
          <a:xfrm>
            <a:off x="927100" y="3468821"/>
            <a:ext cx="10058400" cy="7404588"/>
          </a:xfrm>
          <a:prstGeom prst="rect">
            <a:avLst/>
          </a:prstGeom>
        </p:spPr>
        <p:txBody>
          <a:bodyPr/>
          <a:lstStyle/>
          <a:p>
            <a:r>
              <a:rPr dirty="0"/>
              <a:t>In the decision tree, our accuracy is 97.5%, and our 10-fold Cross-validation is 98.7%. </a:t>
            </a:r>
          </a:p>
          <a:p>
            <a:r>
              <a:rPr dirty="0"/>
              <a:t>We can say this model fits perfectly with both training and test data.</a:t>
            </a:r>
          </a:p>
        </p:txBody>
      </p:sp>
      <p:pic>
        <p:nvPicPr>
          <p:cNvPr id="220" name="Screenshot 2024-11-13 at 5.13.23 PM.png" descr="Screenshot 2024-11-13 at 5.13.23 PM.png"/>
          <p:cNvPicPr>
            <a:picLocks noGrp="1" noChangeAspect="1"/>
          </p:cNvPicPr>
          <p:nvPr>
            <p:ph type="pic" idx="22"/>
          </p:nvPr>
        </p:nvPicPr>
        <p:blipFill>
          <a:blip r:embed="rId2"/>
          <a:srcRect l="9154" r="2087"/>
          <a:stretch>
            <a:fillRect/>
          </a:stretch>
        </p:blipFill>
        <p:spPr>
          <a:xfrm>
            <a:off x="12191999" y="3282354"/>
            <a:ext cx="10916874" cy="7151193"/>
          </a:xfrm>
          <a:prstGeom prst="rect">
            <a:avLst/>
          </a:prstGeom>
        </p:spPr>
      </p:pic>
      <p:sp>
        <p:nvSpPr>
          <p:cNvPr id="221" name="Model Training"/>
          <p:cNvSpPr txBox="1">
            <a:spLocks noGrp="1"/>
          </p:cNvSpPr>
          <p:nvPr>
            <p:ph type="title"/>
          </p:nvPr>
        </p:nvSpPr>
        <p:spPr>
          <a:prstGeom prst="rect">
            <a:avLst/>
          </a:prstGeom>
        </p:spPr>
        <p:txBody>
          <a:bodyPr/>
          <a:lstStyle/>
          <a:p>
            <a:r>
              <a:rPr dirty="0"/>
              <a:t>Model Training</a:t>
            </a:r>
          </a:p>
        </p:txBody>
      </p:sp>
      <p:pic>
        <p:nvPicPr>
          <p:cNvPr id="222" name="Screenshot 2024-11-13 at 5.13.23 PM.png" descr="Screenshot 2024-11-13 at 5.13.23 PM.png"/>
          <p:cNvPicPr>
            <a:picLocks noChangeAspect="1"/>
          </p:cNvPicPr>
          <p:nvPr/>
        </p:nvPicPr>
        <p:blipFill>
          <a:blip r:embed="rId2"/>
          <a:stretch>
            <a:fillRect/>
          </a:stretch>
        </p:blipFill>
        <p:spPr>
          <a:xfrm>
            <a:off x="5943739" y="2504722"/>
            <a:ext cx="17596836" cy="10231128"/>
          </a:xfrm>
          <a:prstGeom prst="rect">
            <a:avLst/>
          </a:prstGeom>
          <a:ln w="12700">
            <a:miter lim="400000"/>
          </a:ln>
        </p:spPr>
      </p:pic>
      <p:graphicFrame>
        <p:nvGraphicFramePr>
          <p:cNvPr id="223" name="Table 1"/>
          <p:cNvGraphicFramePr/>
          <p:nvPr/>
        </p:nvGraphicFramePr>
        <p:xfrm>
          <a:off x="1524000" y="10718800"/>
          <a:ext cx="10909300" cy="2672654"/>
        </p:xfrm>
        <a:graphic>
          <a:graphicData uri="http://schemas.openxmlformats.org/drawingml/2006/table">
            <a:tbl>
              <a:tblPr firstRow="1">
                <a:tableStyleId>{CF821DB8-F4EB-4A41-A1BA-3FCAFE7338EE}</a:tableStyleId>
              </a:tblPr>
              <a:tblGrid>
                <a:gridCol w="2181860">
                  <a:extLst>
                    <a:ext uri="{9D8B030D-6E8A-4147-A177-3AD203B41FA5}">
                      <a16:colId xmlns:a16="http://schemas.microsoft.com/office/drawing/2014/main" val="20000"/>
                    </a:ext>
                  </a:extLst>
                </a:gridCol>
                <a:gridCol w="2181860">
                  <a:extLst>
                    <a:ext uri="{9D8B030D-6E8A-4147-A177-3AD203B41FA5}">
                      <a16:colId xmlns:a16="http://schemas.microsoft.com/office/drawing/2014/main" val="20001"/>
                    </a:ext>
                  </a:extLst>
                </a:gridCol>
                <a:gridCol w="2181860">
                  <a:extLst>
                    <a:ext uri="{9D8B030D-6E8A-4147-A177-3AD203B41FA5}">
                      <a16:colId xmlns:a16="http://schemas.microsoft.com/office/drawing/2014/main" val="20002"/>
                    </a:ext>
                  </a:extLst>
                </a:gridCol>
                <a:gridCol w="2181860">
                  <a:extLst>
                    <a:ext uri="{9D8B030D-6E8A-4147-A177-3AD203B41FA5}">
                      <a16:colId xmlns:a16="http://schemas.microsoft.com/office/drawing/2014/main" val="20003"/>
                    </a:ext>
                  </a:extLst>
                </a:gridCol>
                <a:gridCol w="2181860">
                  <a:extLst>
                    <a:ext uri="{9D8B030D-6E8A-4147-A177-3AD203B41FA5}">
                      <a16:colId xmlns:a16="http://schemas.microsoft.com/office/drawing/2014/main" val="20004"/>
                    </a:ext>
                  </a:extLst>
                </a:gridCol>
              </a:tblGrid>
              <a:tr h="1336327">
                <a:tc>
                  <a:txBody>
                    <a:bodyPr/>
                    <a:lstStyle/>
                    <a:p>
                      <a:pPr defTabSz="914400">
                        <a:tabLst>
                          <a:tab pos="1663700" algn="l"/>
                        </a:tabLst>
                      </a:pPr>
                      <a:r>
                        <a:rPr sz="3200">
                          <a:sym typeface="Helvetica Neue Medium"/>
                        </a:rPr>
                        <a:t>Accuracy</a:t>
                      </a:r>
                    </a:p>
                  </a:txBody>
                  <a:tcPr marL="50800" marR="50800" marT="50800" marB="50800" anchor="ctr" horzOverflow="overflow"/>
                </a:tc>
                <a:tc>
                  <a:txBody>
                    <a:bodyPr/>
                    <a:lstStyle/>
                    <a:p>
                      <a:pPr defTabSz="914400">
                        <a:tabLst>
                          <a:tab pos="1663700" algn="l"/>
                        </a:tabLst>
                      </a:pPr>
                      <a:r>
                        <a:rPr sz="3200" dirty="0">
                          <a:sym typeface="Helvetica Neue Medium"/>
                        </a:rPr>
                        <a:t>Recall</a:t>
                      </a:r>
                    </a:p>
                  </a:txBody>
                  <a:tcPr marL="50800" marR="50800" marT="50800" marB="50800" anchor="ctr" horzOverflow="overflow"/>
                </a:tc>
                <a:tc>
                  <a:txBody>
                    <a:bodyPr/>
                    <a:lstStyle/>
                    <a:p>
                      <a:pPr defTabSz="914400">
                        <a:tabLst>
                          <a:tab pos="1663700" algn="l"/>
                        </a:tabLst>
                      </a:pPr>
                      <a:r>
                        <a:rPr sz="3200">
                          <a:sym typeface="Helvetica Neue Medium"/>
                        </a:rPr>
                        <a:t>Precision</a:t>
                      </a:r>
                    </a:p>
                  </a:txBody>
                  <a:tcPr marL="50800" marR="50800" marT="50800" marB="50800" anchor="ctr" horzOverflow="overflow"/>
                </a:tc>
                <a:tc>
                  <a:txBody>
                    <a:bodyPr/>
                    <a:lstStyle/>
                    <a:p>
                      <a:pPr defTabSz="914400">
                        <a:tabLst>
                          <a:tab pos="1663700" algn="l"/>
                        </a:tabLst>
                      </a:pPr>
                      <a:r>
                        <a:rPr sz="3200">
                          <a:sym typeface="Helvetica Neue Medium"/>
                        </a:rPr>
                        <a:t>F1-Score</a:t>
                      </a:r>
                    </a:p>
                  </a:txBody>
                  <a:tcPr marL="50800" marR="50800" marT="50800" marB="50800" anchor="ctr" horzOverflow="overflow"/>
                </a:tc>
                <a:tc>
                  <a:txBody>
                    <a:bodyPr/>
                    <a:lstStyle/>
                    <a:p>
                      <a:pPr defTabSz="914400">
                        <a:tabLst>
                          <a:tab pos="1663700" algn="l"/>
                        </a:tabLst>
                      </a:pPr>
                      <a:r>
                        <a:rPr sz="3200">
                          <a:sym typeface="Helvetica Neue Medium"/>
                        </a:rPr>
                        <a:t>10-fold CV</a:t>
                      </a:r>
                    </a:p>
                  </a:txBody>
                  <a:tcPr marL="50800" marR="50800" marT="50800" marB="50800" anchor="ctr" horzOverflow="overflow"/>
                </a:tc>
                <a:extLst>
                  <a:ext uri="{0D108BD9-81ED-4DB2-BD59-A6C34878D82A}">
                    <a16:rowId xmlns:a16="http://schemas.microsoft.com/office/drawing/2014/main" val="10000"/>
                  </a:ext>
                </a:extLst>
              </a:tr>
              <a:tr h="1336327">
                <a:tc>
                  <a:txBody>
                    <a:bodyPr/>
                    <a:lstStyle/>
                    <a:p>
                      <a:pPr defTabSz="914400"/>
                      <a:r>
                        <a:rPr sz="3200"/>
                        <a:t>97.5%</a:t>
                      </a:r>
                    </a:p>
                  </a:txBody>
                  <a:tcPr marL="50800" marR="50800" marT="50800" marB="50800" anchor="ctr" horzOverflow="overflow"/>
                </a:tc>
                <a:tc>
                  <a:txBody>
                    <a:bodyPr/>
                    <a:lstStyle/>
                    <a:p>
                      <a:pPr defTabSz="914400"/>
                      <a:r>
                        <a:rPr sz="3200"/>
                        <a:t>97%</a:t>
                      </a:r>
                    </a:p>
                  </a:txBody>
                  <a:tcPr marL="50800" marR="50800" marT="50800" marB="50800" anchor="ctr" horzOverflow="overflow"/>
                </a:tc>
                <a:tc>
                  <a:txBody>
                    <a:bodyPr/>
                    <a:lstStyle/>
                    <a:p>
                      <a:pPr defTabSz="914400"/>
                      <a:r>
                        <a:rPr sz="3200"/>
                        <a:t>98%</a:t>
                      </a:r>
                    </a:p>
                  </a:txBody>
                  <a:tcPr marL="50800" marR="50800" marT="50800" marB="50800" anchor="ctr" horzOverflow="overflow"/>
                </a:tc>
                <a:tc>
                  <a:txBody>
                    <a:bodyPr/>
                    <a:lstStyle/>
                    <a:p>
                      <a:pPr defTabSz="914400"/>
                      <a:r>
                        <a:rPr sz="3200"/>
                        <a:t>97%</a:t>
                      </a:r>
                    </a:p>
                  </a:txBody>
                  <a:tcPr marL="50800" marR="50800" marT="50800" marB="50800" anchor="ctr" horzOverflow="overflow"/>
                </a:tc>
                <a:tc>
                  <a:txBody>
                    <a:bodyPr/>
                    <a:lstStyle/>
                    <a:p>
                      <a:pPr defTabSz="914400"/>
                      <a:r>
                        <a:rPr sz="3200" dirty="0"/>
                        <a:t>98.7%</a:t>
                      </a:r>
                    </a:p>
                  </a:txBody>
                  <a:tcPr marL="50800" marR="50800" marT="50800" marB="50800" anchor="ctr" horzOverflow="overflow"/>
                </a:tc>
                <a:extLst>
                  <a:ext uri="{0D108BD9-81ED-4DB2-BD59-A6C34878D82A}">
                    <a16:rowId xmlns:a16="http://schemas.microsoft.com/office/drawing/2014/main" val="10001"/>
                  </a:ext>
                </a:extLst>
              </a:tr>
            </a:tbl>
          </a:graphicData>
        </a:graphic>
      </p:graphicFrame>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xit" fill="hold" grpId="0" nodeType="clickEffect">
                                  <p:stCondLst>
                                    <p:cond delay="0"/>
                                  </p:stCondLst>
                                  <p:iterate>
                                    <p:tmAbs val="0"/>
                                  </p:iterate>
                                  <p:childTnLst>
                                    <p:animEffect transition="out" filter="fade">
                                      <p:cBhvr>
                                        <p:cTn id="6" dur="1000" fill="hold"/>
                                        <p:tgtEl>
                                          <p:spTgt spid="222"/>
                                        </p:tgtEl>
                                      </p:cBhvr>
                                    </p:animEffect>
                                    <p:set>
                                      <p:cBhvr>
                                        <p:cTn id="7" fill="hold">
                                          <p:stCondLst>
                                            <p:cond delay="999"/>
                                          </p:stCondLst>
                                        </p:cTn>
                                        <p:tgtEl>
                                          <p:spTgt spid="22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iterate>
                                    <p:tmAbs val="0"/>
                                  </p:iterate>
                                  <p:childTnLst>
                                    <p:set>
                                      <p:cBhvr>
                                        <p:cTn id="11" fill="hold"/>
                                        <p:tgtEl>
                                          <p:spTgt spid="220"/>
                                        </p:tgtEl>
                                        <p:attrNameLst>
                                          <p:attrName>style.visibility</p:attrName>
                                        </p:attrNameLst>
                                      </p:cBhvr>
                                      <p:to>
                                        <p:strVal val="visible"/>
                                      </p:to>
                                    </p:set>
                                    <p:anim calcmode="lin" valueType="num">
                                      <p:cBhvr>
                                        <p:cTn id="12" dur="1000" fill="hold"/>
                                        <p:tgtEl>
                                          <p:spTgt spid="220"/>
                                        </p:tgtEl>
                                        <p:attrNameLst>
                                          <p:attrName>ppt_x</p:attrName>
                                        </p:attrNameLst>
                                      </p:cBhvr>
                                      <p:tavLst>
                                        <p:tav tm="0">
                                          <p:val>
                                            <p:strVal val="0-#ppt_w/2"/>
                                          </p:val>
                                        </p:tav>
                                        <p:tav tm="100000">
                                          <p:val>
                                            <p:strVal val="#ppt_x"/>
                                          </p:val>
                                        </p:tav>
                                      </p:tavLst>
                                    </p:anim>
                                    <p:anim calcmode="lin" valueType="num">
                                      <p:cBhvr>
                                        <p:cTn id="13" dur="1000" fill="hold"/>
                                        <p:tgtEl>
                                          <p:spTgt spid="220"/>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iterate>
                                    <p:tmAbs val="0"/>
                                  </p:iterate>
                                  <p:childTnLst>
                                    <p:set>
                                      <p:cBhvr>
                                        <p:cTn id="17" fill="hold"/>
                                        <p:tgtEl>
                                          <p:spTgt spid="223"/>
                                        </p:tgtEl>
                                        <p:attrNameLst>
                                          <p:attrName>style.visibility</p:attrName>
                                        </p:attrNameLst>
                                      </p:cBhvr>
                                      <p:to>
                                        <p:strVal val="visible"/>
                                      </p:to>
                                    </p:set>
                                    <p:anim calcmode="lin" valueType="num">
                                      <p:cBhvr>
                                        <p:cTn id="18" dur="1000" fill="hold"/>
                                        <p:tgtEl>
                                          <p:spTgt spid="223"/>
                                        </p:tgtEl>
                                        <p:attrNameLst>
                                          <p:attrName>ppt_w</p:attrName>
                                        </p:attrNameLst>
                                      </p:cBhvr>
                                      <p:tavLst>
                                        <p:tav tm="0">
                                          <p:val>
                                            <p:fltVal val="0"/>
                                          </p:val>
                                        </p:tav>
                                        <p:tav tm="100000">
                                          <p:val>
                                            <p:strVal val="#ppt_w"/>
                                          </p:val>
                                        </p:tav>
                                      </p:tavLst>
                                    </p:anim>
                                    <p:anim calcmode="lin" valueType="num">
                                      <p:cBhvr>
                                        <p:cTn id="19" dur="1000" fill="hold"/>
                                        <p:tgtEl>
                                          <p:spTgt spid="223"/>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iterate type="lt">
                                    <p:tmAbs val="0"/>
                                  </p:iterate>
                                  <p:childTnLst>
                                    <p:set>
                                      <p:cBhvr>
                                        <p:cTn id="23" fill="hold"/>
                                        <p:tgtEl>
                                          <p:spTgt spid="219">
                                            <p:bg/>
                                          </p:spTgt>
                                        </p:tgtEl>
                                        <p:attrNameLst>
                                          <p:attrName>style.visibility</p:attrName>
                                        </p:attrNameLst>
                                      </p:cBhvr>
                                      <p:to>
                                        <p:strVal val="visible"/>
                                      </p:to>
                                    </p:set>
                                    <p:anim calcmode="lin" valueType="num">
                                      <p:cBhvr>
                                        <p:cTn id="24" dur="1000" fill="hold"/>
                                        <p:tgtEl>
                                          <p:spTgt spid="219">
                                            <p:bg/>
                                          </p:spTgt>
                                        </p:tgtEl>
                                        <p:attrNameLst>
                                          <p:attrName>ppt_x</p:attrName>
                                        </p:attrNameLst>
                                      </p:cBhvr>
                                      <p:tavLst>
                                        <p:tav tm="0">
                                          <p:val>
                                            <p:strVal val="0-#ppt_w/2"/>
                                          </p:val>
                                        </p:tav>
                                        <p:tav tm="100000">
                                          <p:val>
                                            <p:strVal val="#ppt_x"/>
                                          </p:val>
                                        </p:tav>
                                      </p:tavLst>
                                    </p:anim>
                                    <p:anim calcmode="lin" valueType="num">
                                      <p:cBhvr>
                                        <p:cTn id="25" dur="1000" fill="hold"/>
                                        <p:tgtEl>
                                          <p:spTgt spid="219">
                                            <p:bg/>
                                          </p:spTgt>
                                        </p:tgtEl>
                                        <p:attrNameLst>
                                          <p:attrName>ppt_y</p:attrName>
                                        </p:attrNameLst>
                                      </p:cBhvr>
                                      <p:tavLst>
                                        <p:tav tm="0">
                                          <p:val>
                                            <p:strVal val="#ppt_y"/>
                                          </p:val>
                                        </p:tav>
                                        <p:tav tm="100000">
                                          <p:val>
                                            <p:strVal val="#ppt_y"/>
                                          </p:val>
                                        </p:tav>
                                      </p:tavLst>
                                    </p:anim>
                                  </p:childTnLst>
                                </p:cTn>
                              </p:par>
                              <p:par>
                                <p:cTn id="26" presetID="2" presetClass="entr" presetSubtype="8" fill="hold" grpId="0" nodeType="withEffect">
                                  <p:stCondLst>
                                    <p:cond delay="0"/>
                                  </p:stCondLst>
                                  <p:iterate type="lt">
                                    <p:tmAbs val="0"/>
                                  </p:iterate>
                                  <p:childTnLst>
                                    <p:set>
                                      <p:cBhvr>
                                        <p:cTn id="27" fill="hold"/>
                                        <p:tgtEl>
                                          <p:spTgt spid="219">
                                            <p:txEl>
                                              <p:pRg st="0" end="0"/>
                                            </p:txEl>
                                          </p:spTgt>
                                        </p:tgtEl>
                                        <p:attrNameLst>
                                          <p:attrName>style.visibility</p:attrName>
                                        </p:attrNameLst>
                                      </p:cBhvr>
                                      <p:to>
                                        <p:strVal val="visible"/>
                                      </p:to>
                                    </p:set>
                                    <p:anim calcmode="lin" valueType="num">
                                      <p:cBhvr>
                                        <p:cTn id="28" dur="1000" fill="hold"/>
                                        <p:tgtEl>
                                          <p:spTgt spid="219">
                                            <p:txEl>
                                              <p:pRg st="0" end="0"/>
                                            </p:txEl>
                                          </p:spTgt>
                                        </p:tgtEl>
                                        <p:attrNameLst>
                                          <p:attrName>ppt_x</p:attrName>
                                        </p:attrNameLst>
                                      </p:cBhvr>
                                      <p:tavLst>
                                        <p:tav tm="0">
                                          <p:val>
                                            <p:strVal val="0-#ppt_w/2"/>
                                          </p:val>
                                        </p:tav>
                                        <p:tav tm="100000">
                                          <p:val>
                                            <p:strVal val="#ppt_x"/>
                                          </p:val>
                                        </p:tav>
                                      </p:tavLst>
                                    </p:anim>
                                    <p:anim calcmode="lin" valueType="num">
                                      <p:cBhvr>
                                        <p:cTn id="29" dur="1000" fill="hold"/>
                                        <p:tgtEl>
                                          <p:spTgt spid="21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iterate type="lt">
                                    <p:tmAbs val="0"/>
                                  </p:iterate>
                                  <p:childTnLst>
                                    <p:set>
                                      <p:cBhvr>
                                        <p:cTn id="33" fill="hold"/>
                                        <p:tgtEl>
                                          <p:spTgt spid="219">
                                            <p:txEl>
                                              <p:pRg st="1" end="1"/>
                                            </p:txEl>
                                          </p:spTgt>
                                        </p:tgtEl>
                                        <p:attrNameLst>
                                          <p:attrName>style.visibility</p:attrName>
                                        </p:attrNameLst>
                                      </p:cBhvr>
                                      <p:to>
                                        <p:strVal val="visible"/>
                                      </p:to>
                                    </p:set>
                                    <p:anim calcmode="lin" valueType="num">
                                      <p:cBhvr>
                                        <p:cTn id="34" dur="1000" fill="hold"/>
                                        <p:tgtEl>
                                          <p:spTgt spid="219">
                                            <p:txEl>
                                              <p:pRg st="1" end="1"/>
                                            </p:txEl>
                                          </p:spTgt>
                                        </p:tgtEl>
                                        <p:attrNameLst>
                                          <p:attrName>ppt_x</p:attrName>
                                        </p:attrNameLst>
                                      </p:cBhvr>
                                      <p:tavLst>
                                        <p:tav tm="0">
                                          <p:val>
                                            <p:strVal val="0-#ppt_w/2"/>
                                          </p:val>
                                        </p:tav>
                                        <p:tav tm="100000">
                                          <p:val>
                                            <p:strVal val="#ppt_x"/>
                                          </p:val>
                                        </p:tav>
                                      </p:tavLst>
                                    </p:anim>
                                    <p:anim calcmode="lin" valueType="num">
                                      <p:cBhvr>
                                        <p:cTn id="35" dur="1000" fill="hold"/>
                                        <p:tgtEl>
                                          <p:spTgt spid="219">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 grpId="0" build="p" bldLvl="5" animBg="1" advAuto="0"/>
      <p:bldP spid="220" grpId="0" animBg="1" advAuto="0"/>
      <p:bldP spid="222" grpId="0" animBg="1" advAuto="0"/>
      <p:bldP spid="223" grpId="0" animBg="1" advAuto="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Model Training"/>
          <p:cNvSpPr txBox="1">
            <a:spLocks noGrp="1"/>
          </p:cNvSpPr>
          <p:nvPr>
            <p:ph type="title"/>
          </p:nvPr>
        </p:nvSpPr>
        <p:spPr>
          <a:prstGeom prst="rect">
            <a:avLst/>
          </a:prstGeom>
        </p:spPr>
        <p:txBody>
          <a:bodyPr/>
          <a:lstStyle/>
          <a:p>
            <a:r>
              <a:t>Model Training </a:t>
            </a:r>
          </a:p>
        </p:txBody>
      </p:sp>
      <p:sp>
        <p:nvSpPr>
          <p:cNvPr id="226" name="Random Forest"/>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t>Random Forest</a:t>
            </a:r>
          </a:p>
        </p:txBody>
      </p:sp>
      <p:sp>
        <p:nvSpPr>
          <p:cNvPr id="227" name="Random Forest performs similarly to Decision Tree.…"/>
          <p:cNvSpPr txBox="1">
            <a:spLocks noGrp="1"/>
          </p:cNvSpPr>
          <p:nvPr>
            <p:ph type="body" idx="1"/>
          </p:nvPr>
        </p:nvSpPr>
        <p:spPr>
          <a:prstGeom prst="rect">
            <a:avLst/>
          </a:prstGeom>
        </p:spPr>
        <p:txBody>
          <a:bodyPr/>
          <a:lstStyle/>
          <a:p>
            <a:r>
              <a:t>Random Forest performs similarly to Decision Tree. </a:t>
            </a:r>
          </a:p>
          <a:p>
            <a:r>
              <a:t>We selected the decision tree over the random forest because the 10-fold cross-validation for the random forest is not as accurate with the model as the decision tree.</a:t>
            </a:r>
          </a:p>
        </p:txBody>
      </p:sp>
      <p:graphicFrame>
        <p:nvGraphicFramePr>
          <p:cNvPr id="228" name="Table 1"/>
          <p:cNvGraphicFramePr/>
          <p:nvPr/>
        </p:nvGraphicFramePr>
        <p:xfrm>
          <a:off x="1981200" y="9855200"/>
          <a:ext cx="10909300" cy="2672654"/>
        </p:xfrm>
        <a:graphic>
          <a:graphicData uri="http://schemas.openxmlformats.org/drawingml/2006/table">
            <a:tbl>
              <a:tblPr firstRow="1">
                <a:tableStyleId>{CF821DB8-F4EB-4A41-A1BA-3FCAFE7338EE}</a:tableStyleId>
              </a:tblPr>
              <a:tblGrid>
                <a:gridCol w="2181860">
                  <a:extLst>
                    <a:ext uri="{9D8B030D-6E8A-4147-A177-3AD203B41FA5}">
                      <a16:colId xmlns:a16="http://schemas.microsoft.com/office/drawing/2014/main" val="20000"/>
                    </a:ext>
                  </a:extLst>
                </a:gridCol>
                <a:gridCol w="2181860">
                  <a:extLst>
                    <a:ext uri="{9D8B030D-6E8A-4147-A177-3AD203B41FA5}">
                      <a16:colId xmlns:a16="http://schemas.microsoft.com/office/drawing/2014/main" val="20001"/>
                    </a:ext>
                  </a:extLst>
                </a:gridCol>
                <a:gridCol w="2181860">
                  <a:extLst>
                    <a:ext uri="{9D8B030D-6E8A-4147-A177-3AD203B41FA5}">
                      <a16:colId xmlns:a16="http://schemas.microsoft.com/office/drawing/2014/main" val="20002"/>
                    </a:ext>
                  </a:extLst>
                </a:gridCol>
                <a:gridCol w="2181860">
                  <a:extLst>
                    <a:ext uri="{9D8B030D-6E8A-4147-A177-3AD203B41FA5}">
                      <a16:colId xmlns:a16="http://schemas.microsoft.com/office/drawing/2014/main" val="20003"/>
                    </a:ext>
                  </a:extLst>
                </a:gridCol>
                <a:gridCol w="2181860">
                  <a:extLst>
                    <a:ext uri="{9D8B030D-6E8A-4147-A177-3AD203B41FA5}">
                      <a16:colId xmlns:a16="http://schemas.microsoft.com/office/drawing/2014/main" val="20004"/>
                    </a:ext>
                  </a:extLst>
                </a:gridCol>
              </a:tblGrid>
              <a:tr h="1336327">
                <a:tc>
                  <a:txBody>
                    <a:bodyPr/>
                    <a:lstStyle/>
                    <a:p>
                      <a:pPr defTabSz="914400">
                        <a:tabLst>
                          <a:tab pos="1663700" algn="l"/>
                        </a:tabLst>
                      </a:pPr>
                      <a:r>
                        <a:rPr sz="3200">
                          <a:sym typeface="Helvetica Neue Medium"/>
                        </a:rPr>
                        <a:t>Accuracy</a:t>
                      </a:r>
                    </a:p>
                  </a:txBody>
                  <a:tcPr marL="50800" marR="50800" marT="50800" marB="50800" anchor="ctr" horzOverflow="overflow"/>
                </a:tc>
                <a:tc>
                  <a:txBody>
                    <a:bodyPr/>
                    <a:lstStyle/>
                    <a:p>
                      <a:pPr defTabSz="914400">
                        <a:tabLst>
                          <a:tab pos="1663700" algn="l"/>
                        </a:tabLst>
                      </a:pPr>
                      <a:r>
                        <a:rPr sz="3200">
                          <a:sym typeface="Helvetica Neue Medium"/>
                        </a:rPr>
                        <a:t>Recall</a:t>
                      </a:r>
                    </a:p>
                  </a:txBody>
                  <a:tcPr marL="50800" marR="50800" marT="50800" marB="50800" anchor="ctr" horzOverflow="overflow"/>
                </a:tc>
                <a:tc>
                  <a:txBody>
                    <a:bodyPr/>
                    <a:lstStyle/>
                    <a:p>
                      <a:pPr defTabSz="914400">
                        <a:tabLst>
                          <a:tab pos="1663700" algn="l"/>
                        </a:tabLst>
                      </a:pPr>
                      <a:r>
                        <a:rPr sz="3200">
                          <a:sym typeface="Helvetica Neue Medium"/>
                        </a:rPr>
                        <a:t>Precision</a:t>
                      </a:r>
                    </a:p>
                  </a:txBody>
                  <a:tcPr marL="50800" marR="50800" marT="50800" marB="50800" anchor="ctr" horzOverflow="overflow"/>
                </a:tc>
                <a:tc>
                  <a:txBody>
                    <a:bodyPr/>
                    <a:lstStyle/>
                    <a:p>
                      <a:pPr defTabSz="914400">
                        <a:tabLst>
                          <a:tab pos="1663700" algn="l"/>
                        </a:tabLst>
                      </a:pPr>
                      <a:r>
                        <a:rPr sz="3200">
                          <a:sym typeface="Helvetica Neue Medium"/>
                        </a:rPr>
                        <a:t>F1-Score</a:t>
                      </a:r>
                    </a:p>
                  </a:txBody>
                  <a:tcPr marL="50800" marR="50800" marT="50800" marB="50800" anchor="ctr" horzOverflow="overflow"/>
                </a:tc>
                <a:tc>
                  <a:txBody>
                    <a:bodyPr/>
                    <a:lstStyle/>
                    <a:p>
                      <a:pPr defTabSz="914400">
                        <a:tabLst>
                          <a:tab pos="1663700" algn="l"/>
                        </a:tabLst>
                      </a:pPr>
                      <a:r>
                        <a:rPr sz="3200">
                          <a:sym typeface="Helvetica Neue Medium"/>
                        </a:rPr>
                        <a:t>10-fold CV</a:t>
                      </a:r>
                    </a:p>
                  </a:txBody>
                  <a:tcPr marL="50800" marR="50800" marT="50800" marB="50800" anchor="ctr" horzOverflow="overflow"/>
                </a:tc>
                <a:extLst>
                  <a:ext uri="{0D108BD9-81ED-4DB2-BD59-A6C34878D82A}">
                    <a16:rowId xmlns:a16="http://schemas.microsoft.com/office/drawing/2014/main" val="10000"/>
                  </a:ext>
                </a:extLst>
              </a:tr>
              <a:tr h="1336327">
                <a:tc>
                  <a:txBody>
                    <a:bodyPr/>
                    <a:lstStyle/>
                    <a:p>
                      <a:pPr defTabSz="914400"/>
                      <a:r>
                        <a:rPr sz="3200"/>
                        <a:t>97.5%</a:t>
                      </a:r>
                    </a:p>
                  </a:txBody>
                  <a:tcPr marL="50800" marR="50800" marT="50800" marB="50800" anchor="ctr" horzOverflow="overflow"/>
                </a:tc>
                <a:tc>
                  <a:txBody>
                    <a:bodyPr/>
                    <a:lstStyle/>
                    <a:p>
                      <a:pPr defTabSz="914400"/>
                      <a:r>
                        <a:rPr sz="3200"/>
                        <a:t>97%</a:t>
                      </a:r>
                    </a:p>
                  </a:txBody>
                  <a:tcPr marL="50800" marR="50800" marT="50800" marB="50800" anchor="ctr" horzOverflow="overflow"/>
                </a:tc>
                <a:tc>
                  <a:txBody>
                    <a:bodyPr/>
                    <a:lstStyle/>
                    <a:p>
                      <a:pPr defTabSz="914400"/>
                      <a:r>
                        <a:rPr sz="3200"/>
                        <a:t>98%</a:t>
                      </a:r>
                    </a:p>
                  </a:txBody>
                  <a:tcPr marL="50800" marR="50800" marT="50800" marB="50800" anchor="ctr" horzOverflow="overflow"/>
                </a:tc>
                <a:tc>
                  <a:txBody>
                    <a:bodyPr/>
                    <a:lstStyle/>
                    <a:p>
                      <a:pPr defTabSz="914400"/>
                      <a:r>
                        <a:rPr sz="3200"/>
                        <a:t>97%</a:t>
                      </a:r>
                    </a:p>
                  </a:txBody>
                  <a:tcPr marL="50800" marR="50800" marT="50800" marB="50800" anchor="ctr" horzOverflow="overflow"/>
                </a:tc>
                <a:tc>
                  <a:txBody>
                    <a:bodyPr/>
                    <a:lstStyle/>
                    <a:p>
                      <a:pPr defTabSz="914400"/>
                      <a:r>
                        <a:rPr sz="3200"/>
                        <a:t>99.5%</a:t>
                      </a:r>
                    </a:p>
                  </a:txBody>
                  <a:tcPr marL="50800" marR="50800" marT="50800" marB="50800" anchor="ctr" horzOverflow="overflow"/>
                </a:tc>
                <a:extLst>
                  <a:ext uri="{0D108BD9-81ED-4DB2-BD59-A6C34878D82A}">
                    <a16:rowId xmlns:a16="http://schemas.microsoft.com/office/drawing/2014/main" val="10001"/>
                  </a:ext>
                </a:extLst>
              </a:tr>
            </a:tbl>
          </a:graphicData>
        </a:graphic>
      </p:graphicFrame>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iterate>
                                    <p:tmAbs val="0"/>
                                  </p:iterate>
                                  <p:childTnLst>
                                    <p:set>
                                      <p:cBhvr>
                                        <p:cTn id="6" fill="hold"/>
                                        <p:tgtEl>
                                          <p:spTgt spid="228"/>
                                        </p:tgtEl>
                                        <p:attrNameLst>
                                          <p:attrName>style.visibility</p:attrName>
                                        </p:attrNameLst>
                                      </p:cBhvr>
                                      <p:to>
                                        <p:strVal val="visible"/>
                                      </p:to>
                                    </p:set>
                                    <p:anim calcmode="lin" valueType="num">
                                      <p:cBhvr>
                                        <p:cTn id="7" dur="1000" fill="hold"/>
                                        <p:tgtEl>
                                          <p:spTgt spid="228"/>
                                        </p:tgtEl>
                                        <p:attrNameLst>
                                          <p:attrName>ppt_w</p:attrName>
                                        </p:attrNameLst>
                                      </p:cBhvr>
                                      <p:tavLst>
                                        <p:tav tm="0">
                                          <p:val>
                                            <p:fltVal val="0"/>
                                          </p:val>
                                        </p:tav>
                                        <p:tav tm="100000">
                                          <p:val>
                                            <p:strVal val="#ppt_w"/>
                                          </p:val>
                                        </p:tav>
                                      </p:tavLst>
                                    </p:anim>
                                    <p:anim calcmode="lin" valueType="num">
                                      <p:cBhvr>
                                        <p:cTn id="8" dur="1000" fill="hold"/>
                                        <p:tgtEl>
                                          <p:spTgt spid="228"/>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iterate type="lt">
                                    <p:tmAbs val="0"/>
                                  </p:iterate>
                                  <p:childTnLst>
                                    <p:set>
                                      <p:cBhvr>
                                        <p:cTn id="12" fill="hold"/>
                                        <p:tgtEl>
                                          <p:spTgt spid="227">
                                            <p:bg/>
                                          </p:spTgt>
                                        </p:tgtEl>
                                        <p:attrNameLst>
                                          <p:attrName>style.visibility</p:attrName>
                                        </p:attrNameLst>
                                      </p:cBhvr>
                                      <p:to>
                                        <p:strVal val="visible"/>
                                      </p:to>
                                    </p:set>
                                    <p:anim calcmode="lin" valueType="num">
                                      <p:cBhvr>
                                        <p:cTn id="13" dur="1000" fill="hold"/>
                                        <p:tgtEl>
                                          <p:spTgt spid="227">
                                            <p:bg/>
                                          </p:spTgt>
                                        </p:tgtEl>
                                        <p:attrNameLst>
                                          <p:attrName>ppt_x</p:attrName>
                                        </p:attrNameLst>
                                      </p:cBhvr>
                                      <p:tavLst>
                                        <p:tav tm="0">
                                          <p:val>
                                            <p:strVal val="0-#ppt_w/2"/>
                                          </p:val>
                                        </p:tav>
                                        <p:tav tm="100000">
                                          <p:val>
                                            <p:strVal val="#ppt_x"/>
                                          </p:val>
                                        </p:tav>
                                      </p:tavLst>
                                    </p:anim>
                                    <p:anim calcmode="lin" valueType="num">
                                      <p:cBhvr>
                                        <p:cTn id="14" dur="1000" fill="hold"/>
                                        <p:tgtEl>
                                          <p:spTgt spid="227">
                                            <p:bg/>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iterate type="lt">
                                    <p:tmAbs val="0"/>
                                  </p:iterate>
                                  <p:childTnLst>
                                    <p:set>
                                      <p:cBhvr>
                                        <p:cTn id="16" fill="hold"/>
                                        <p:tgtEl>
                                          <p:spTgt spid="227">
                                            <p:txEl>
                                              <p:pRg st="0" end="0"/>
                                            </p:txEl>
                                          </p:spTgt>
                                        </p:tgtEl>
                                        <p:attrNameLst>
                                          <p:attrName>style.visibility</p:attrName>
                                        </p:attrNameLst>
                                      </p:cBhvr>
                                      <p:to>
                                        <p:strVal val="visible"/>
                                      </p:to>
                                    </p:set>
                                    <p:anim calcmode="lin" valueType="num">
                                      <p:cBhvr>
                                        <p:cTn id="17" dur="1000" fill="hold"/>
                                        <p:tgtEl>
                                          <p:spTgt spid="227">
                                            <p:txEl>
                                              <p:pRg st="0" end="0"/>
                                            </p:txEl>
                                          </p:spTgt>
                                        </p:tgtEl>
                                        <p:attrNameLst>
                                          <p:attrName>ppt_x</p:attrName>
                                        </p:attrNameLst>
                                      </p:cBhvr>
                                      <p:tavLst>
                                        <p:tav tm="0">
                                          <p:val>
                                            <p:strVal val="0-#ppt_w/2"/>
                                          </p:val>
                                        </p:tav>
                                        <p:tav tm="100000">
                                          <p:val>
                                            <p:strVal val="#ppt_x"/>
                                          </p:val>
                                        </p:tav>
                                      </p:tavLst>
                                    </p:anim>
                                    <p:anim calcmode="lin" valueType="num">
                                      <p:cBhvr>
                                        <p:cTn id="18" dur="1000" fill="hold"/>
                                        <p:tgtEl>
                                          <p:spTgt spid="2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iterate type="lt">
                                    <p:tmAbs val="0"/>
                                  </p:iterate>
                                  <p:childTnLst>
                                    <p:set>
                                      <p:cBhvr>
                                        <p:cTn id="22" fill="hold"/>
                                        <p:tgtEl>
                                          <p:spTgt spid="227">
                                            <p:txEl>
                                              <p:pRg st="1" end="1"/>
                                            </p:txEl>
                                          </p:spTgt>
                                        </p:tgtEl>
                                        <p:attrNameLst>
                                          <p:attrName>style.visibility</p:attrName>
                                        </p:attrNameLst>
                                      </p:cBhvr>
                                      <p:to>
                                        <p:strVal val="visible"/>
                                      </p:to>
                                    </p:set>
                                    <p:anim calcmode="lin" valueType="num">
                                      <p:cBhvr>
                                        <p:cTn id="23" dur="1000" fill="hold"/>
                                        <p:tgtEl>
                                          <p:spTgt spid="227">
                                            <p:txEl>
                                              <p:pRg st="1" end="1"/>
                                            </p:txEl>
                                          </p:spTgt>
                                        </p:tgtEl>
                                        <p:attrNameLst>
                                          <p:attrName>ppt_x</p:attrName>
                                        </p:attrNameLst>
                                      </p:cBhvr>
                                      <p:tavLst>
                                        <p:tav tm="0">
                                          <p:val>
                                            <p:strVal val="0-#ppt_w/2"/>
                                          </p:val>
                                        </p:tav>
                                        <p:tav tm="100000">
                                          <p:val>
                                            <p:strVal val="#ppt_x"/>
                                          </p:val>
                                        </p:tav>
                                      </p:tavLst>
                                    </p:anim>
                                    <p:anim calcmode="lin" valueType="num">
                                      <p:cBhvr>
                                        <p:cTn id="24" dur="1000" fill="hold"/>
                                        <p:tgtEl>
                                          <p:spTgt spid="227">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 grpId="0" build="p" bldLvl="5" animBg="1" advAuto="0"/>
      <p:bldP spid="228" grpId="0" animBg="1" advAuto="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Model Training"/>
          <p:cNvSpPr txBox="1">
            <a:spLocks noGrp="1"/>
          </p:cNvSpPr>
          <p:nvPr>
            <p:ph type="title"/>
          </p:nvPr>
        </p:nvSpPr>
        <p:spPr>
          <a:prstGeom prst="rect">
            <a:avLst/>
          </a:prstGeom>
        </p:spPr>
        <p:txBody>
          <a:bodyPr/>
          <a:lstStyle/>
          <a:p>
            <a:r>
              <a:t>Model Training </a:t>
            </a:r>
          </a:p>
        </p:txBody>
      </p:sp>
      <p:sp>
        <p:nvSpPr>
          <p:cNvPr id="231" name="Logistic Regression"/>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t>Logistic Regression</a:t>
            </a:r>
          </a:p>
        </p:txBody>
      </p:sp>
      <p:sp>
        <p:nvSpPr>
          <p:cNvPr id="232" name="Logistic Regression is the lowest model in the accuracy."/>
          <p:cNvSpPr txBox="1">
            <a:spLocks noGrp="1"/>
          </p:cNvSpPr>
          <p:nvPr>
            <p:ph type="body" idx="1"/>
          </p:nvPr>
        </p:nvSpPr>
        <p:spPr>
          <a:prstGeom prst="rect">
            <a:avLst/>
          </a:prstGeom>
        </p:spPr>
        <p:txBody>
          <a:bodyPr/>
          <a:lstStyle/>
          <a:p>
            <a:r>
              <a:t>Logistic Regression is the lowest model in the accuracy. </a:t>
            </a:r>
          </a:p>
        </p:txBody>
      </p:sp>
      <p:graphicFrame>
        <p:nvGraphicFramePr>
          <p:cNvPr id="233" name="Table 1"/>
          <p:cNvGraphicFramePr/>
          <p:nvPr/>
        </p:nvGraphicFramePr>
        <p:xfrm>
          <a:off x="2133600" y="8305800"/>
          <a:ext cx="10909300" cy="2672654"/>
        </p:xfrm>
        <a:graphic>
          <a:graphicData uri="http://schemas.openxmlformats.org/drawingml/2006/table">
            <a:tbl>
              <a:tblPr firstRow="1">
                <a:tableStyleId>{CF821DB8-F4EB-4A41-A1BA-3FCAFE7338EE}</a:tableStyleId>
              </a:tblPr>
              <a:tblGrid>
                <a:gridCol w="2181860">
                  <a:extLst>
                    <a:ext uri="{9D8B030D-6E8A-4147-A177-3AD203B41FA5}">
                      <a16:colId xmlns:a16="http://schemas.microsoft.com/office/drawing/2014/main" val="20000"/>
                    </a:ext>
                  </a:extLst>
                </a:gridCol>
                <a:gridCol w="2181860">
                  <a:extLst>
                    <a:ext uri="{9D8B030D-6E8A-4147-A177-3AD203B41FA5}">
                      <a16:colId xmlns:a16="http://schemas.microsoft.com/office/drawing/2014/main" val="20001"/>
                    </a:ext>
                  </a:extLst>
                </a:gridCol>
                <a:gridCol w="2181860">
                  <a:extLst>
                    <a:ext uri="{9D8B030D-6E8A-4147-A177-3AD203B41FA5}">
                      <a16:colId xmlns:a16="http://schemas.microsoft.com/office/drawing/2014/main" val="20002"/>
                    </a:ext>
                  </a:extLst>
                </a:gridCol>
                <a:gridCol w="2181860">
                  <a:extLst>
                    <a:ext uri="{9D8B030D-6E8A-4147-A177-3AD203B41FA5}">
                      <a16:colId xmlns:a16="http://schemas.microsoft.com/office/drawing/2014/main" val="20003"/>
                    </a:ext>
                  </a:extLst>
                </a:gridCol>
                <a:gridCol w="2181860">
                  <a:extLst>
                    <a:ext uri="{9D8B030D-6E8A-4147-A177-3AD203B41FA5}">
                      <a16:colId xmlns:a16="http://schemas.microsoft.com/office/drawing/2014/main" val="20004"/>
                    </a:ext>
                  </a:extLst>
                </a:gridCol>
              </a:tblGrid>
              <a:tr h="1336327">
                <a:tc>
                  <a:txBody>
                    <a:bodyPr/>
                    <a:lstStyle/>
                    <a:p>
                      <a:pPr defTabSz="914400">
                        <a:tabLst>
                          <a:tab pos="1663700" algn="l"/>
                        </a:tabLst>
                      </a:pPr>
                      <a:r>
                        <a:rPr sz="3200">
                          <a:sym typeface="Helvetica Neue Medium"/>
                        </a:rPr>
                        <a:t>Accuracy</a:t>
                      </a:r>
                    </a:p>
                  </a:txBody>
                  <a:tcPr marL="50800" marR="50800" marT="50800" marB="50800" anchor="ctr" horzOverflow="overflow"/>
                </a:tc>
                <a:tc>
                  <a:txBody>
                    <a:bodyPr/>
                    <a:lstStyle/>
                    <a:p>
                      <a:pPr defTabSz="914400">
                        <a:tabLst>
                          <a:tab pos="1663700" algn="l"/>
                        </a:tabLst>
                      </a:pPr>
                      <a:r>
                        <a:rPr sz="3200">
                          <a:sym typeface="Helvetica Neue Medium"/>
                        </a:rPr>
                        <a:t>Recall</a:t>
                      </a:r>
                    </a:p>
                  </a:txBody>
                  <a:tcPr marL="50800" marR="50800" marT="50800" marB="50800" anchor="ctr" horzOverflow="overflow"/>
                </a:tc>
                <a:tc>
                  <a:txBody>
                    <a:bodyPr/>
                    <a:lstStyle/>
                    <a:p>
                      <a:pPr defTabSz="914400">
                        <a:tabLst>
                          <a:tab pos="1663700" algn="l"/>
                        </a:tabLst>
                      </a:pPr>
                      <a:r>
                        <a:rPr sz="3200">
                          <a:sym typeface="Helvetica Neue Medium"/>
                        </a:rPr>
                        <a:t>Precision</a:t>
                      </a:r>
                    </a:p>
                  </a:txBody>
                  <a:tcPr marL="50800" marR="50800" marT="50800" marB="50800" anchor="ctr" horzOverflow="overflow"/>
                </a:tc>
                <a:tc>
                  <a:txBody>
                    <a:bodyPr/>
                    <a:lstStyle/>
                    <a:p>
                      <a:pPr defTabSz="914400">
                        <a:tabLst>
                          <a:tab pos="1663700" algn="l"/>
                        </a:tabLst>
                      </a:pPr>
                      <a:r>
                        <a:rPr sz="3200">
                          <a:sym typeface="Helvetica Neue Medium"/>
                        </a:rPr>
                        <a:t>F1-Score</a:t>
                      </a:r>
                    </a:p>
                  </a:txBody>
                  <a:tcPr marL="50800" marR="50800" marT="50800" marB="50800" anchor="ctr" horzOverflow="overflow"/>
                </a:tc>
                <a:tc>
                  <a:txBody>
                    <a:bodyPr/>
                    <a:lstStyle/>
                    <a:p>
                      <a:pPr defTabSz="914400">
                        <a:tabLst>
                          <a:tab pos="1663700" algn="l"/>
                        </a:tabLst>
                      </a:pPr>
                      <a:r>
                        <a:rPr sz="3200">
                          <a:sym typeface="Helvetica Neue Medium"/>
                        </a:rPr>
                        <a:t>10-fold CV</a:t>
                      </a:r>
                    </a:p>
                  </a:txBody>
                  <a:tcPr marL="50800" marR="50800" marT="50800" marB="50800" anchor="ctr" horzOverflow="overflow"/>
                </a:tc>
                <a:extLst>
                  <a:ext uri="{0D108BD9-81ED-4DB2-BD59-A6C34878D82A}">
                    <a16:rowId xmlns:a16="http://schemas.microsoft.com/office/drawing/2014/main" val="10000"/>
                  </a:ext>
                </a:extLst>
              </a:tr>
              <a:tr h="1336327">
                <a:tc>
                  <a:txBody>
                    <a:bodyPr/>
                    <a:lstStyle/>
                    <a:p>
                      <a:pPr defTabSz="914400"/>
                      <a:r>
                        <a:rPr sz="3200"/>
                        <a:t>93%</a:t>
                      </a:r>
                    </a:p>
                  </a:txBody>
                  <a:tcPr marL="50800" marR="50800" marT="50800" marB="50800" anchor="ctr" horzOverflow="overflow"/>
                </a:tc>
                <a:tc>
                  <a:txBody>
                    <a:bodyPr/>
                    <a:lstStyle/>
                    <a:p>
                      <a:pPr defTabSz="914400"/>
                      <a:r>
                        <a:rPr sz="3200"/>
                        <a:t>94%</a:t>
                      </a:r>
                    </a:p>
                  </a:txBody>
                  <a:tcPr marL="50800" marR="50800" marT="50800" marB="50800" anchor="ctr" horzOverflow="overflow"/>
                </a:tc>
                <a:tc>
                  <a:txBody>
                    <a:bodyPr/>
                    <a:lstStyle/>
                    <a:p>
                      <a:pPr defTabSz="914400"/>
                      <a:r>
                        <a:rPr sz="3200"/>
                        <a:t>95%</a:t>
                      </a:r>
                    </a:p>
                  </a:txBody>
                  <a:tcPr marL="50800" marR="50800" marT="50800" marB="50800" anchor="ctr" horzOverflow="overflow"/>
                </a:tc>
                <a:tc>
                  <a:txBody>
                    <a:bodyPr/>
                    <a:lstStyle/>
                    <a:p>
                      <a:pPr defTabSz="914400"/>
                      <a:r>
                        <a:rPr sz="3200"/>
                        <a:t>94%</a:t>
                      </a:r>
                    </a:p>
                  </a:txBody>
                  <a:tcPr marL="50800" marR="50800" marT="50800" marB="50800" anchor="ctr" horzOverflow="overflow"/>
                </a:tc>
                <a:tc>
                  <a:txBody>
                    <a:bodyPr/>
                    <a:lstStyle/>
                    <a:p>
                      <a:pPr defTabSz="914400"/>
                      <a:r>
                        <a:rPr sz="3200"/>
                        <a:t>91.8%</a:t>
                      </a:r>
                    </a:p>
                  </a:txBody>
                  <a:tcPr marL="50800" marR="50800" marT="50800" marB="50800" anchor="ctr" horzOverflow="overflow"/>
                </a:tc>
                <a:extLst>
                  <a:ext uri="{0D108BD9-81ED-4DB2-BD59-A6C34878D82A}">
                    <a16:rowId xmlns:a16="http://schemas.microsoft.com/office/drawing/2014/main" val="10001"/>
                  </a:ext>
                </a:extLst>
              </a:tr>
            </a:tbl>
          </a:graphicData>
        </a:graphic>
      </p:graphicFrame>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iterate>
                                    <p:tmAbs val="0"/>
                                  </p:iterate>
                                  <p:childTnLst>
                                    <p:set>
                                      <p:cBhvr>
                                        <p:cTn id="6" fill="hold"/>
                                        <p:tgtEl>
                                          <p:spTgt spid="233"/>
                                        </p:tgtEl>
                                        <p:attrNameLst>
                                          <p:attrName>style.visibility</p:attrName>
                                        </p:attrNameLst>
                                      </p:cBhvr>
                                      <p:to>
                                        <p:strVal val="visible"/>
                                      </p:to>
                                    </p:set>
                                    <p:anim calcmode="lin" valueType="num">
                                      <p:cBhvr>
                                        <p:cTn id="7" dur="1000" fill="hold"/>
                                        <p:tgtEl>
                                          <p:spTgt spid="233"/>
                                        </p:tgtEl>
                                        <p:attrNameLst>
                                          <p:attrName>ppt_w</p:attrName>
                                        </p:attrNameLst>
                                      </p:cBhvr>
                                      <p:tavLst>
                                        <p:tav tm="0">
                                          <p:val>
                                            <p:fltVal val="0"/>
                                          </p:val>
                                        </p:tav>
                                        <p:tav tm="100000">
                                          <p:val>
                                            <p:strVal val="#ppt_w"/>
                                          </p:val>
                                        </p:tav>
                                      </p:tavLst>
                                    </p:anim>
                                    <p:anim calcmode="lin" valueType="num">
                                      <p:cBhvr>
                                        <p:cTn id="8" dur="1000" fill="hold"/>
                                        <p:tgtEl>
                                          <p:spTgt spid="233"/>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iterate>
                                    <p:tmAbs val="0"/>
                                  </p:iterate>
                                  <p:childTnLst>
                                    <p:set>
                                      <p:cBhvr>
                                        <p:cTn id="12" fill="hold"/>
                                        <p:tgtEl>
                                          <p:spTgt spid="232"/>
                                        </p:tgtEl>
                                        <p:attrNameLst>
                                          <p:attrName>style.visibility</p:attrName>
                                        </p:attrNameLst>
                                      </p:cBhvr>
                                      <p:to>
                                        <p:strVal val="visible"/>
                                      </p:to>
                                    </p:set>
                                    <p:anim calcmode="lin" valueType="num">
                                      <p:cBhvr>
                                        <p:cTn id="13" dur="1000" fill="hold"/>
                                        <p:tgtEl>
                                          <p:spTgt spid="232"/>
                                        </p:tgtEl>
                                        <p:attrNameLst>
                                          <p:attrName>ppt_x</p:attrName>
                                        </p:attrNameLst>
                                      </p:cBhvr>
                                      <p:tavLst>
                                        <p:tav tm="0">
                                          <p:val>
                                            <p:strVal val="0-#ppt_w/2"/>
                                          </p:val>
                                        </p:tav>
                                        <p:tav tm="100000">
                                          <p:val>
                                            <p:strVal val="#ppt_x"/>
                                          </p:val>
                                        </p:tav>
                                      </p:tavLst>
                                    </p:anim>
                                    <p:anim calcmode="lin" valueType="num">
                                      <p:cBhvr>
                                        <p:cTn id="14" dur="1000" fill="hold"/>
                                        <p:tgtEl>
                                          <p:spTgt spid="2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 grpId="0" animBg="1" advAuto="0"/>
      <p:bldP spid="233" grpId="0" animBg="1" advAuto="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Algorithm with top 8 features"/>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t>Algorithm with top 8 features</a:t>
            </a:r>
          </a:p>
        </p:txBody>
      </p:sp>
      <p:sp>
        <p:nvSpPr>
          <p:cNvPr id="236" name="From the importance table, we selected the top eight features to calculate the accuracy with a random combination for all three models."/>
          <p:cNvSpPr txBox="1">
            <a:spLocks noGrp="1"/>
          </p:cNvSpPr>
          <p:nvPr>
            <p:ph type="body" idx="1"/>
          </p:nvPr>
        </p:nvSpPr>
        <p:spPr>
          <a:prstGeom prst="rect">
            <a:avLst/>
          </a:prstGeom>
        </p:spPr>
        <p:txBody>
          <a:bodyPr/>
          <a:lstStyle/>
          <a:p>
            <a:r>
              <a:rPr dirty="0"/>
              <a:t>From the importance table, we selected the top eight features to calculate the accuracy with a random combination for all three models. </a:t>
            </a:r>
          </a:p>
        </p:txBody>
      </p:sp>
      <p:graphicFrame>
        <p:nvGraphicFramePr>
          <p:cNvPr id="237" name="Table 1"/>
          <p:cNvGraphicFramePr/>
          <p:nvPr/>
        </p:nvGraphicFramePr>
        <p:xfrm>
          <a:off x="1206500" y="6738711"/>
          <a:ext cx="18103253" cy="5284105"/>
        </p:xfrm>
        <a:graphic>
          <a:graphicData uri="http://schemas.openxmlformats.org/drawingml/2006/table">
            <a:tbl>
              <a:tblPr firstRow="1">
                <a:tableStyleId>{CF821DB8-F4EB-4A41-A1BA-3FCAFE7338EE}</a:tableStyleId>
              </a:tblPr>
              <a:tblGrid>
                <a:gridCol w="8325263">
                  <a:extLst>
                    <a:ext uri="{9D8B030D-6E8A-4147-A177-3AD203B41FA5}">
                      <a16:colId xmlns:a16="http://schemas.microsoft.com/office/drawing/2014/main" val="20000"/>
                    </a:ext>
                  </a:extLst>
                </a:gridCol>
                <a:gridCol w="2704593">
                  <a:extLst>
                    <a:ext uri="{9D8B030D-6E8A-4147-A177-3AD203B41FA5}">
                      <a16:colId xmlns:a16="http://schemas.microsoft.com/office/drawing/2014/main" val="20001"/>
                    </a:ext>
                  </a:extLst>
                </a:gridCol>
                <a:gridCol w="3063918">
                  <a:extLst>
                    <a:ext uri="{9D8B030D-6E8A-4147-A177-3AD203B41FA5}">
                      <a16:colId xmlns:a16="http://schemas.microsoft.com/office/drawing/2014/main" val="20002"/>
                    </a:ext>
                  </a:extLst>
                </a:gridCol>
                <a:gridCol w="4009479">
                  <a:extLst>
                    <a:ext uri="{9D8B030D-6E8A-4147-A177-3AD203B41FA5}">
                      <a16:colId xmlns:a16="http://schemas.microsoft.com/office/drawing/2014/main" val="20003"/>
                    </a:ext>
                  </a:extLst>
                </a:gridCol>
              </a:tblGrid>
              <a:tr h="1043395">
                <a:tc>
                  <a:txBody>
                    <a:bodyPr/>
                    <a:lstStyle/>
                    <a:p>
                      <a:pPr defTabSz="914400">
                        <a:tabLst>
                          <a:tab pos="1663700" algn="l"/>
                        </a:tabLst>
                      </a:pPr>
                      <a:r>
                        <a:rPr sz="3200">
                          <a:sym typeface="Helvetica Neue Medium"/>
                        </a:rPr>
                        <a:t>Features</a:t>
                      </a:r>
                    </a:p>
                  </a:txBody>
                  <a:tcPr marL="50800" marR="50800" marT="50800" marB="50800" anchor="ctr" horzOverflow="overflow"/>
                </a:tc>
                <a:tc>
                  <a:txBody>
                    <a:bodyPr/>
                    <a:lstStyle/>
                    <a:p>
                      <a:pPr defTabSz="914400">
                        <a:tabLst>
                          <a:tab pos="1663700" algn="l"/>
                        </a:tabLst>
                      </a:pPr>
                      <a:r>
                        <a:rPr sz="3200">
                          <a:sym typeface="Helvetica Neue Medium"/>
                        </a:rPr>
                        <a:t>Decision Tree</a:t>
                      </a:r>
                    </a:p>
                  </a:txBody>
                  <a:tcPr marL="50800" marR="50800" marT="50800" marB="50800" anchor="ctr" horzOverflow="overflow"/>
                </a:tc>
                <a:tc>
                  <a:txBody>
                    <a:bodyPr/>
                    <a:lstStyle/>
                    <a:p>
                      <a:pPr defTabSz="914400">
                        <a:tabLst>
                          <a:tab pos="1663700" algn="l"/>
                        </a:tabLst>
                      </a:pPr>
                      <a:r>
                        <a:rPr sz="3200">
                          <a:sym typeface="Helvetica Neue Medium"/>
                        </a:rPr>
                        <a:t>Random Forest</a:t>
                      </a:r>
                    </a:p>
                  </a:txBody>
                  <a:tcPr marL="50800" marR="50800" marT="50800" marB="50800" anchor="ctr" horzOverflow="overflow"/>
                </a:tc>
                <a:tc>
                  <a:txBody>
                    <a:bodyPr/>
                    <a:lstStyle/>
                    <a:p>
                      <a:pPr defTabSz="914400">
                        <a:tabLst>
                          <a:tab pos="1663700" algn="l"/>
                        </a:tabLst>
                      </a:pPr>
                      <a:r>
                        <a:rPr sz="3200">
                          <a:sym typeface="Helvetica Neue Medium"/>
                        </a:rPr>
                        <a:t>Logistic Regression</a:t>
                      </a:r>
                    </a:p>
                  </a:txBody>
                  <a:tcPr marL="50800" marR="50800" marT="50800" marB="50800" anchor="ctr" horzOverflow="overflow"/>
                </a:tc>
                <a:extLst>
                  <a:ext uri="{0D108BD9-81ED-4DB2-BD59-A6C34878D82A}">
                    <a16:rowId xmlns:a16="http://schemas.microsoft.com/office/drawing/2014/main" val="10000"/>
                  </a:ext>
                </a:extLst>
              </a:tr>
              <a:tr h="1043395">
                <a:tc>
                  <a:txBody>
                    <a:bodyPr/>
                    <a:lstStyle/>
                    <a:p>
                      <a:pPr defTabSz="914400"/>
                      <a:r>
                        <a:rPr sz="3200"/>
                        <a:t>Coughing of Blood, Wheezing, Fatigue</a:t>
                      </a:r>
                    </a:p>
                  </a:txBody>
                  <a:tcPr marL="50800" marR="50800" marT="50800" marB="50800" anchor="ctr" horzOverflow="overflow"/>
                </a:tc>
                <a:tc>
                  <a:txBody>
                    <a:bodyPr/>
                    <a:lstStyle/>
                    <a:p>
                      <a:pPr defTabSz="914400"/>
                      <a:r>
                        <a:rPr sz="3200"/>
                        <a:t>97%</a:t>
                      </a:r>
                    </a:p>
                  </a:txBody>
                  <a:tcPr marL="50800" marR="50800" marT="50800" marB="50800" anchor="ctr" horzOverflow="overflow"/>
                </a:tc>
                <a:tc>
                  <a:txBody>
                    <a:bodyPr/>
                    <a:lstStyle/>
                    <a:p>
                      <a:pPr defTabSz="914400"/>
                      <a:r>
                        <a:rPr sz="3200"/>
                        <a:t>98.5%</a:t>
                      </a:r>
                    </a:p>
                  </a:txBody>
                  <a:tcPr marL="50800" marR="50800" marT="50800" marB="50800" anchor="ctr" horzOverflow="overflow"/>
                </a:tc>
                <a:tc>
                  <a:txBody>
                    <a:bodyPr/>
                    <a:lstStyle/>
                    <a:p>
                      <a:pPr defTabSz="914400"/>
                      <a:r>
                        <a:rPr sz="3200"/>
                        <a:t>92.5%</a:t>
                      </a:r>
                    </a:p>
                  </a:txBody>
                  <a:tcPr marL="50800" marR="50800" marT="50800" marB="50800" anchor="ctr" horzOverflow="overflow"/>
                </a:tc>
                <a:extLst>
                  <a:ext uri="{0D108BD9-81ED-4DB2-BD59-A6C34878D82A}">
                    <a16:rowId xmlns:a16="http://schemas.microsoft.com/office/drawing/2014/main" val="10001"/>
                  </a:ext>
                </a:extLst>
              </a:tr>
              <a:tr h="1043395">
                <a:tc>
                  <a:txBody>
                    <a:bodyPr/>
                    <a:lstStyle/>
                    <a:p>
                      <a:pPr defTabSz="914400"/>
                      <a:r>
                        <a:rPr sz="3200"/>
                        <a:t>Coughing of Blood, Smoking, Wheezing, Fatigue</a:t>
                      </a:r>
                    </a:p>
                  </a:txBody>
                  <a:tcPr marL="50800" marR="50800" marT="50800" marB="50800" anchor="ctr" horzOverflow="overflow"/>
                </a:tc>
                <a:tc>
                  <a:txBody>
                    <a:bodyPr/>
                    <a:lstStyle/>
                    <a:p>
                      <a:pPr defTabSz="914400"/>
                      <a:r>
                        <a:rPr sz="3200"/>
                        <a:t>96.5%</a:t>
                      </a:r>
                    </a:p>
                  </a:txBody>
                  <a:tcPr marL="50800" marR="50800" marT="50800" marB="50800" anchor="ctr" horzOverflow="overflow"/>
                </a:tc>
                <a:tc>
                  <a:txBody>
                    <a:bodyPr/>
                    <a:lstStyle/>
                    <a:p>
                      <a:pPr defTabSz="914400"/>
                      <a:r>
                        <a:rPr sz="3200"/>
                        <a:t>98.5%</a:t>
                      </a:r>
                    </a:p>
                  </a:txBody>
                  <a:tcPr marL="50800" marR="50800" marT="50800" marB="50800" anchor="ctr" horzOverflow="overflow"/>
                </a:tc>
                <a:tc>
                  <a:txBody>
                    <a:bodyPr/>
                    <a:lstStyle/>
                    <a:p>
                      <a:pPr defTabSz="914400"/>
                      <a:r>
                        <a:rPr sz="3200"/>
                        <a:t>97%</a:t>
                      </a:r>
                    </a:p>
                  </a:txBody>
                  <a:tcPr marL="50800" marR="50800" marT="50800" marB="50800" anchor="ctr" horzOverflow="overflow"/>
                </a:tc>
                <a:extLst>
                  <a:ext uri="{0D108BD9-81ED-4DB2-BD59-A6C34878D82A}">
                    <a16:rowId xmlns:a16="http://schemas.microsoft.com/office/drawing/2014/main" val="10002"/>
                  </a:ext>
                </a:extLst>
              </a:tr>
              <a:tr h="1043395">
                <a:tc>
                  <a:txBody>
                    <a:bodyPr/>
                    <a:lstStyle/>
                    <a:p>
                      <a:pPr defTabSz="914400"/>
                      <a:r>
                        <a:rPr sz="3200"/>
                        <a:t>Dust Allergy, Wheezing, Fatifue</a:t>
                      </a:r>
                    </a:p>
                  </a:txBody>
                  <a:tcPr marL="50800" marR="50800" marT="50800" marB="50800" anchor="ctr" horzOverflow="overflow"/>
                </a:tc>
                <a:tc>
                  <a:txBody>
                    <a:bodyPr/>
                    <a:lstStyle/>
                    <a:p>
                      <a:pPr defTabSz="914400"/>
                      <a:r>
                        <a:rPr sz="3200"/>
                        <a:t>98%</a:t>
                      </a:r>
                    </a:p>
                  </a:txBody>
                  <a:tcPr marL="50800" marR="50800" marT="50800" marB="50800" anchor="ctr" horzOverflow="overflow"/>
                </a:tc>
                <a:tc>
                  <a:txBody>
                    <a:bodyPr/>
                    <a:lstStyle/>
                    <a:p>
                      <a:pPr defTabSz="914400"/>
                      <a:r>
                        <a:rPr sz="3200"/>
                        <a:t>99%</a:t>
                      </a:r>
                    </a:p>
                  </a:txBody>
                  <a:tcPr marL="50800" marR="50800" marT="50800" marB="50800" anchor="ctr" horzOverflow="overflow"/>
                </a:tc>
                <a:tc>
                  <a:txBody>
                    <a:bodyPr/>
                    <a:lstStyle/>
                    <a:p>
                      <a:pPr defTabSz="914400"/>
                      <a:r>
                        <a:rPr sz="3200"/>
                        <a:t>89%</a:t>
                      </a:r>
                    </a:p>
                  </a:txBody>
                  <a:tcPr marL="50800" marR="50800" marT="50800" marB="50800" anchor="ctr" horzOverflow="overflow"/>
                </a:tc>
                <a:extLst>
                  <a:ext uri="{0D108BD9-81ED-4DB2-BD59-A6C34878D82A}">
                    <a16:rowId xmlns:a16="http://schemas.microsoft.com/office/drawing/2014/main" val="10003"/>
                  </a:ext>
                </a:extLst>
              </a:tr>
              <a:tr h="1043395">
                <a:tc>
                  <a:txBody>
                    <a:bodyPr/>
                    <a:lstStyle/>
                    <a:p>
                      <a:pPr defTabSz="914400"/>
                      <a:r>
                        <a:rPr sz="3200"/>
                        <a:t>Chest Pain, Occupational hazards, Dust Allergy</a:t>
                      </a:r>
                    </a:p>
                  </a:txBody>
                  <a:tcPr marL="50800" marR="50800" marT="50800" marB="50800" anchor="ctr" horzOverflow="overflow"/>
                </a:tc>
                <a:tc>
                  <a:txBody>
                    <a:bodyPr/>
                    <a:lstStyle/>
                    <a:p>
                      <a:pPr defTabSz="914400"/>
                      <a:r>
                        <a:rPr sz="3200"/>
                        <a:t>98%</a:t>
                      </a:r>
                    </a:p>
                  </a:txBody>
                  <a:tcPr marL="50800" marR="50800" marT="50800" marB="50800" anchor="ctr" horzOverflow="overflow"/>
                </a:tc>
                <a:tc>
                  <a:txBody>
                    <a:bodyPr/>
                    <a:lstStyle/>
                    <a:p>
                      <a:pPr defTabSz="914400"/>
                      <a:r>
                        <a:rPr sz="3200"/>
                        <a:t>97%</a:t>
                      </a:r>
                    </a:p>
                  </a:txBody>
                  <a:tcPr marL="50800" marR="50800" marT="50800" marB="50800" anchor="ctr" horzOverflow="overflow"/>
                </a:tc>
                <a:tc>
                  <a:txBody>
                    <a:bodyPr/>
                    <a:lstStyle/>
                    <a:p>
                      <a:pPr defTabSz="914400"/>
                      <a:r>
                        <a:rPr sz="3200"/>
                        <a:t>87%</a:t>
                      </a:r>
                    </a:p>
                  </a:txBody>
                  <a:tcPr marL="50800" marR="50800" marT="50800" marB="50800" anchor="ctr" horzOverflow="overflow"/>
                </a:tc>
                <a:extLst>
                  <a:ext uri="{0D108BD9-81ED-4DB2-BD59-A6C34878D82A}">
                    <a16:rowId xmlns:a16="http://schemas.microsoft.com/office/drawing/2014/main" val="10004"/>
                  </a:ext>
                </a:extLst>
              </a:tr>
            </a:tbl>
          </a:graphicData>
        </a:graphic>
      </p:graphicFrame>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iterate>
                                    <p:tmAbs val="0"/>
                                  </p:iterate>
                                  <p:childTnLst>
                                    <p:set>
                                      <p:cBhvr>
                                        <p:cTn id="6" fill="hold"/>
                                        <p:tgtEl>
                                          <p:spTgt spid="236"/>
                                        </p:tgtEl>
                                        <p:attrNameLst>
                                          <p:attrName>style.visibility</p:attrName>
                                        </p:attrNameLst>
                                      </p:cBhvr>
                                      <p:to>
                                        <p:strVal val="visible"/>
                                      </p:to>
                                    </p:set>
                                    <p:anim calcmode="lin" valueType="num">
                                      <p:cBhvr>
                                        <p:cTn id="7" dur="1000" fill="hold"/>
                                        <p:tgtEl>
                                          <p:spTgt spid="236"/>
                                        </p:tgtEl>
                                        <p:attrNameLst>
                                          <p:attrName>ppt_x</p:attrName>
                                        </p:attrNameLst>
                                      </p:cBhvr>
                                      <p:tavLst>
                                        <p:tav tm="0">
                                          <p:val>
                                            <p:strVal val="0-#ppt_w/2"/>
                                          </p:val>
                                        </p:tav>
                                        <p:tav tm="100000">
                                          <p:val>
                                            <p:strVal val="#ppt_x"/>
                                          </p:val>
                                        </p:tav>
                                      </p:tavLst>
                                    </p:anim>
                                    <p:anim calcmode="lin" valueType="num">
                                      <p:cBhvr>
                                        <p:cTn id="8" dur="1000" fill="hold"/>
                                        <p:tgtEl>
                                          <p:spTgt spid="23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iterate>
                                    <p:tmAbs val="0"/>
                                  </p:iterate>
                                  <p:childTnLst>
                                    <p:set>
                                      <p:cBhvr>
                                        <p:cTn id="12" fill="hold"/>
                                        <p:tgtEl>
                                          <p:spTgt spid="237"/>
                                        </p:tgtEl>
                                        <p:attrNameLst>
                                          <p:attrName>style.visibility</p:attrName>
                                        </p:attrNameLst>
                                      </p:cBhvr>
                                      <p:to>
                                        <p:strVal val="visible"/>
                                      </p:to>
                                    </p:set>
                                    <p:anim calcmode="lin" valueType="num">
                                      <p:cBhvr>
                                        <p:cTn id="13" dur="1000" fill="hold"/>
                                        <p:tgtEl>
                                          <p:spTgt spid="237"/>
                                        </p:tgtEl>
                                        <p:attrNameLst>
                                          <p:attrName>ppt_w</p:attrName>
                                        </p:attrNameLst>
                                      </p:cBhvr>
                                      <p:tavLst>
                                        <p:tav tm="0">
                                          <p:val>
                                            <p:fltVal val="0"/>
                                          </p:val>
                                        </p:tav>
                                        <p:tav tm="100000">
                                          <p:val>
                                            <p:strVal val="#ppt_w"/>
                                          </p:val>
                                        </p:tav>
                                      </p:tavLst>
                                    </p:anim>
                                    <p:anim calcmode="lin" valueType="num">
                                      <p:cBhvr>
                                        <p:cTn id="14" dur="1000" fill="hold"/>
                                        <p:tgtEl>
                                          <p:spTgt spid="23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 grpId="0" animBg="1" advAuto="0"/>
      <p:bldP spid="237" grpId="0" animBg="1" advAuto="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Conclusion"/>
          <p:cNvSpPr txBox="1">
            <a:spLocks noGrp="1"/>
          </p:cNvSpPr>
          <p:nvPr>
            <p:ph type="title"/>
          </p:nvPr>
        </p:nvSpPr>
        <p:spPr>
          <a:prstGeom prst="rect">
            <a:avLst/>
          </a:prstGeom>
        </p:spPr>
        <p:txBody>
          <a:bodyPr/>
          <a:lstStyle/>
          <a:p>
            <a:r>
              <a:t>Conclusion</a:t>
            </a:r>
          </a:p>
        </p:txBody>
      </p:sp>
      <p:sp>
        <p:nvSpPr>
          <p:cNvPr id="240" name="Based on the metrics presented in the table, the Decision Tree model is an excellent choice for predicting lung cancer.…"/>
          <p:cNvSpPr txBox="1">
            <a:spLocks noGrp="1"/>
          </p:cNvSpPr>
          <p:nvPr>
            <p:ph type="body" idx="1"/>
          </p:nvPr>
        </p:nvSpPr>
        <p:spPr>
          <a:xfrm>
            <a:off x="1206500" y="3071472"/>
            <a:ext cx="21971000" cy="9433044"/>
          </a:xfrm>
          <a:prstGeom prst="rect">
            <a:avLst/>
          </a:prstGeom>
        </p:spPr>
        <p:txBody>
          <a:bodyPr/>
          <a:lstStyle/>
          <a:p>
            <a:r>
              <a:t>Based on the metrics presented in the table, the Decision Tree model is an excellent choice for predicting lung cancer. </a:t>
            </a:r>
          </a:p>
          <a:p>
            <a:r>
              <a:t>These findings imply that the Decision Tree algorithm is most appropriate for estimating the risk of lung cancer, allowing for prompt measures to enhance medical results.</a:t>
            </a:r>
          </a:p>
        </p:txBody>
      </p:sp>
      <p:graphicFrame>
        <p:nvGraphicFramePr>
          <p:cNvPr id="241" name="Table 1"/>
          <p:cNvGraphicFramePr/>
          <p:nvPr/>
        </p:nvGraphicFramePr>
        <p:xfrm>
          <a:off x="2908746" y="8313511"/>
          <a:ext cx="18922107" cy="4202636"/>
        </p:xfrm>
        <a:graphic>
          <a:graphicData uri="http://schemas.openxmlformats.org/drawingml/2006/table">
            <a:tbl>
              <a:tblPr firstRow="1" firstCol="1">
                <a:tableStyleId>{CF821DB8-F4EB-4A41-A1BA-3FCAFE7338EE}</a:tableStyleId>
              </a:tblPr>
              <a:tblGrid>
                <a:gridCol w="6307369">
                  <a:extLst>
                    <a:ext uri="{9D8B030D-6E8A-4147-A177-3AD203B41FA5}">
                      <a16:colId xmlns:a16="http://schemas.microsoft.com/office/drawing/2014/main" val="20000"/>
                    </a:ext>
                  </a:extLst>
                </a:gridCol>
                <a:gridCol w="6307369">
                  <a:extLst>
                    <a:ext uri="{9D8B030D-6E8A-4147-A177-3AD203B41FA5}">
                      <a16:colId xmlns:a16="http://schemas.microsoft.com/office/drawing/2014/main" val="20001"/>
                    </a:ext>
                  </a:extLst>
                </a:gridCol>
                <a:gridCol w="6307369">
                  <a:extLst>
                    <a:ext uri="{9D8B030D-6E8A-4147-A177-3AD203B41FA5}">
                      <a16:colId xmlns:a16="http://schemas.microsoft.com/office/drawing/2014/main" val="20002"/>
                    </a:ext>
                  </a:extLst>
                </a:gridCol>
              </a:tblGrid>
              <a:tr h="1050659">
                <a:tc>
                  <a:txBody>
                    <a:bodyPr/>
                    <a:lstStyle/>
                    <a:p>
                      <a:pPr defTabSz="914400">
                        <a:tabLst>
                          <a:tab pos="1663700" algn="l"/>
                        </a:tabLst>
                        <a:defRPr sz="3200">
                          <a:sym typeface="Helvetica Neue Medium"/>
                        </a:defRPr>
                      </a:pPr>
                      <a:endParaRPr/>
                    </a:p>
                  </a:txBody>
                  <a:tcPr marL="50800" marR="50800" marT="50800" marB="50800" anchor="ctr" horzOverflow="overflow"/>
                </a:tc>
                <a:tc>
                  <a:txBody>
                    <a:bodyPr/>
                    <a:lstStyle/>
                    <a:p>
                      <a:pPr defTabSz="914400">
                        <a:tabLst>
                          <a:tab pos="1663700" algn="l"/>
                        </a:tabLst>
                      </a:pPr>
                      <a:r>
                        <a:rPr sz="3200">
                          <a:sym typeface="Helvetica Neue Medium"/>
                        </a:rPr>
                        <a:t>Accuracy</a:t>
                      </a:r>
                    </a:p>
                  </a:txBody>
                  <a:tcPr marL="50800" marR="50800" marT="50800" marB="50800" anchor="ctr" horzOverflow="overflow"/>
                </a:tc>
                <a:tc>
                  <a:txBody>
                    <a:bodyPr/>
                    <a:lstStyle/>
                    <a:p>
                      <a:pPr defTabSz="914400">
                        <a:tabLst>
                          <a:tab pos="1663700" algn="l"/>
                        </a:tabLst>
                      </a:pPr>
                      <a:r>
                        <a:rPr sz="3200">
                          <a:sym typeface="Helvetica Neue Medium"/>
                        </a:rPr>
                        <a:t>10 FoldCross Validation</a:t>
                      </a:r>
                    </a:p>
                  </a:txBody>
                  <a:tcPr marL="50800" marR="50800" marT="50800" marB="50800" anchor="ctr" horzOverflow="overflow"/>
                </a:tc>
                <a:extLst>
                  <a:ext uri="{0D108BD9-81ED-4DB2-BD59-A6C34878D82A}">
                    <a16:rowId xmlns:a16="http://schemas.microsoft.com/office/drawing/2014/main" val="10000"/>
                  </a:ext>
                </a:extLst>
              </a:tr>
              <a:tr h="1050659">
                <a:tc>
                  <a:txBody>
                    <a:bodyPr/>
                    <a:lstStyle/>
                    <a:p>
                      <a:pPr defTabSz="914400">
                        <a:tabLst>
                          <a:tab pos="1663700" algn="l"/>
                        </a:tabLst>
                      </a:pPr>
                      <a:r>
                        <a:rPr sz="3200">
                          <a:sym typeface="Helvetica Neue Medium"/>
                        </a:rPr>
                        <a:t>Decision Tree</a:t>
                      </a:r>
                    </a:p>
                  </a:txBody>
                  <a:tcPr marL="50800" marR="50800" marT="50800" marB="50800" anchor="ctr" horzOverflow="overflow"/>
                </a:tc>
                <a:tc>
                  <a:txBody>
                    <a:bodyPr/>
                    <a:lstStyle/>
                    <a:p>
                      <a:pPr defTabSz="914400"/>
                      <a:r>
                        <a:rPr sz="3200"/>
                        <a:t>97.5%</a:t>
                      </a:r>
                    </a:p>
                  </a:txBody>
                  <a:tcPr marL="50800" marR="50800" marT="50800" marB="50800" anchor="ctr" horzOverflow="overflow"/>
                </a:tc>
                <a:tc>
                  <a:txBody>
                    <a:bodyPr/>
                    <a:lstStyle/>
                    <a:p>
                      <a:pPr defTabSz="914400"/>
                      <a:r>
                        <a:rPr sz="3200"/>
                        <a:t>98.7%</a:t>
                      </a:r>
                    </a:p>
                  </a:txBody>
                  <a:tcPr marL="50800" marR="50800" marT="50800" marB="50800" anchor="ctr" horzOverflow="overflow"/>
                </a:tc>
                <a:extLst>
                  <a:ext uri="{0D108BD9-81ED-4DB2-BD59-A6C34878D82A}">
                    <a16:rowId xmlns:a16="http://schemas.microsoft.com/office/drawing/2014/main" val="10001"/>
                  </a:ext>
                </a:extLst>
              </a:tr>
              <a:tr h="1050659">
                <a:tc>
                  <a:txBody>
                    <a:bodyPr/>
                    <a:lstStyle/>
                    <a:p>
                      <a:pPr defTabSz="914400">
                        <a:tabLst>
                          <a:tab pos="1663700" algn="l"/>
                        </a:tabLst>
                      </a:pPr>
                      <a:r>
                        <a:rPr sz="3200">
                          <a:sym typeface="Helvetica Neue Medium"/>
                        </a:rPr>
                        <a:t>Random Forest</a:t>
                      </a:r>
                    </a:p>
                  </a:txBody>
                  <a:tcPr marL="50800" marR="50800" marT="50800" marB="50800" anchor="ctr" horzOverflow="overflow"/>
                </a:tc>
                <a:tc>
                  <a:txBody>
                    <a:bodyPr/>
                    <a:lstStyle/>
                    <a:p>
                      <a:pPr defTabSz="914400"/>
                      <a:r>
                        <a:rPr sz="3200"/>
                        <a:t>97.5%</a:t>
                      </a:r>
                    </a:p>
                  </a:txBody>
                  <a:tcPr marL="50800" marR="50800" marT="50800" marB="50800" anchor="ctr" horzOverflow="overflow"/>
                </a:tc>
                <a:tc>
                  <a:txBody>
                    <a:bodyPr/>
                    <a:lstStyle/>
                    <a:p>
                      <a:pPr defTabSz="914400"/>
                      <a:r>
                        <a:rPr sz="3200"/>
                        <a:t>99.5%</a:t>
                      </a:r>
                    </a:p>
                  </a:txBody>
                  <a:tcPr marL="50800" marR="50800" marT="50800" marB="50800" anchor="ctr" horzOverflow="overflow"/>
                </a:tc>
                <a:extLst>
                  <a:ext uri="{0D108BD9-81ED-4DB2-BD59-A6C34878D82A}">
                    <a16:rowId xmlns:a16="http://schemas.microsoft.com/office/drawing/2014/main" val="10002"/>
                  </a:ext>
                </a:extLst>
              </a:tr>
              <a:tr h="1050659">
                <a:tc>
                  <a:txBody>
                    <a:bodyPr/>
                    <a:lstStyle/>
                    <a:p>
                      <a:pPr defTabSz="914400">
                        <a:tabLst>
                          <a:tab pos="1663700" algn="l"/>
                        </a:tabLst>
                      </a:pPr>
                      <a:r>
                        <a:rPr sz="3200">
                          <a:sym typeface="Helvetica Neue Medium"/>
                        </a:rPr>
                        <a:t>Logistic Regression</a:t>
                      </a:r>
                    </a:p>
                  </a:txBody>
                  <a:tcPr marL="50800" marR="50800" marT="50800" marB="50800" anchor="ctr" horzOverflow="overflow"/>
                </a:tc>
                <a:tc>
                  <a:txBody>
                    <a:bodyPr/>
                    <a:lstStyle/>
                    <a:p>
                      <a:pPr defTabSz="914400"/>
                      <a:r>
                        <a:rPr sz="3200"/>
                        <a:t>93%</a:t>
                      </a:r>
                    </a:p>
                  </a:txBody>
                  <a:tcPr marL="50800" marR="50800" marT="50800" marB="50800" anchor="ctr" horzOverflow="overflow"/>
                </a:tc>
                <a:tc>
                  <a:txBody>
                    <a:bodyPr/>
                    <a:lstStyle/>
                    <a:p>
                      <a:pPr defTabSz="914400"/>
                      <a:r>
                        <a:rPr sz="3200"/>
                        <a:t>91.8%</a:t>
                      </a:r>
                    </a:p>
                  </a:txBody>
                  <a:tcPr marL="50800" marR="50800" marT="50800" marB="50800" anchor="ctr" horzOverflow="overflow"/>
                </a:tc>
                <a:extLst>
                  <a:ext uri="{0D108BD9-81ED-4DB2-BD59-A6C34878D82A}">
                    <a16:rowId xmlns:a16="http://schemas.microsoft.com/office/drawing/2014/main" val="10003"/>
                  </a:ext>
                </a:extLst>
              </a:tr>
            </a:tbl>
          </a:graphicData>
        </a:graphic>
      </p:graphicFrame>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iterate>
                                    <p:tmAbs val="0"/>
                                  </p:iterate>
                                  <p:childTnLst>
                                    <p:set>
                                      <p:cBhvr>
                                        <p:cTn id="6" fill="hold"/>
                                        <p:tgtEl>
                                          <p:spTgt spid="241"/>
                                        </p:tgtEl>
                                        <p:attrNameLst>
                                          <p:attrName>style.visibility</p:attrName>
                                        </p:attrNameLst>
                                      </p:cBhvr>
                                      <p:to>
                                        <p:strVal val="visible"/>
                                      </p:to>
                                    </p:set>
                                    <p:anim calcmode="lin" valueType="num">
                                      <p:cBhvr>
                                        <p:cTn id="7" dur="1000" fill="hold"/>
                                        <p:tgtEl>
                                          <p:spTgt spid="241"/>
                                        </p:tgtEl>
                                        <p:attrNameLst>
                                          <p:attrName>ppt_w</p:attrName>
                                        </p:attrNameLst>
                                      </p:cBhvr>
                                      <p:tavLst>
                                        <p:tav tm="0">
                                          <p:val>
                                            <p:fltVal val="0"/>
                                          </p:val>
                                        </p:tav>
                                        <p:tav tm="100000">
                                          <p:val>
                                            <p:strVal val="#ppt_w"/>
                                          </p:val>
                                        </p:tav>
                                      </p:tavLst>
                                    </p:anim>
                                    <p:anim calcmode="lin" valueType="num">
                                      <p:cBhvr>
                                        <p:cTn id="8" dur="1000" fill="hold"/>
                                        <p:tgtEl>
                                          <p:spTgt spid="241"/>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iterate type="lt">
                                    <p:tmAbs val="0"/>
                                  </p:iterate>
                                  <p:childTnLst>
                                    <p:set>
                                      <p:cBhvr>
                                        <p:cTn id="12" fill="hold"/>
                                        <p:tgtEl>
                                          <p:spTgt spid="240">
                                            <p:bg/>
                                          </p:spTgt>
                                        </p:tgtEl>
                                        <p:attrNameLst>
                                          <p:attrName>style.visibility</p:attrName>
                                        </p:attrNameLst>
                                      </p:cBhvr>
                                      <p:to>
                                        <p:strVal val="visible"/>
                                      </p:to>
                                    </p:set>
                                    <p:anim calcmode="lin" valueType="num">
                                      <p:cBhvr>
                                        <p:cTn id="13" dur="1000" fill="hold"/>
                                        <p:tgtEl>
                                          <p:spTgt spid="240">
                                            <p:bg/>
                                          </p:spTgt>
                                        </p:tgtEl>
                                        <p:attrNameLst>
                                          <p:attrName>ppt_x</p:attrName>
                                        </p:attrNameLst>
                                      </p:cBhvr>
                                      <p:tavLst>
                                        <p:tav tm="0">
                                          <p:val>
                                            <p:strVal val="0-#ppt_w/2"/>
                                          </p:val>
                                        </p:tav>
                                        <p:tav tm="100000">
                                          <p:val>
                                            <p:strVal val="#ppt_x"/>
                                          </p:val>
                                        </p:tav>
                                      </p:tavLst>
                                    </p:anim>
                                    <p:anim calcmode="lin" valueType="num">
                                      <p:cBhvr>
                                        <p:cTn id="14" dur="1000" fill="hold"/>
                                        <p:tgtEl>
                                          <p:spTgt spid="240">
                                            <p:bg/>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iterate type="lt">
                                    <p:tmAbs val="0"/>
                                  </p:iterate>
                                  <p:childTnLst>
                                    <p:set>
                                      <p:cBhvr>
                                        <p:cTn id="16" fill="hold"/>
                                        <p:tgtEl>
                                          <p:spTgt spid="240">
                                            <p:txEl>
                                              <p:pRg st="0" end="0"/>
                                            </p:txEl>
                                          </p:spTgt>
                                        </p:tgtEl>
                                        <p:attrNameLst>
                                          <p:attrName>style.visibility</p:attrName>
                                        </p:attrNameLst>
                                      </p:cBhvr>
                                      <p:to>
                                        <p:strVal val="visible"/>
                                      </p:to>
                                    </p:set>
                                    <p:anim calcmode="lin" valueType="num">
                                      <p:cBhvr>
                                        <p:cTn id="17" dur="1000" fill="hold"/>
                                        <p:tgtEl>
                                          <p:spTgt spid="240">
                                            <p:txEl>
                                              <p:pRg st="0" end="0"/>
                                            </p:txEl>
                                          </p:spTgt>
                                        </p:tgtEl>
                                        <p:attrNameLst>
                                          <p:attrName>ppt_x</p:attrName>
                                        </p:attrNameLst>
                                      </p:cBhvr>
                                      <p:tavLst>
                                        <p:tav tm="0">
                                          <p:val>
                                            <p:strVal val="0-#ppt_w/2"/>
                                          </p:val>
                                        </p:tav>
                                        <p:tav tm="100000">
                                          <p:val>
                                            <p:strVal val="#ppt_x"/>
                                          </p:val>
                                        </p:tav>
                                      </p:tavLst>
                                    </p:anim>
                                    <p:anim calcmode="lin" valueType="num">
                                      <p:cBhvr>
                                        <p:cTn id="18" dur="1000" fill="hold"/>
                                        <p:tgtEl>
                                          <p:spTgt spid="24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iterate type="lt">
                                    <p:tmAbs val="0"/>
                                  </p:iterate>
                                  <p:childTnLst>
                                    <p:set>
                                      <p:cBhvr>
                                        <p:cTn id="22" fill="hold"/>
                                        <p:tgtEl>
                                          <p:spTgt spid="240">
                                            <p:txEl>
                                              <p:pRg st="1" end="1"/>
                                            </p:txEl>
                                          </p:spTgt>
                                        </p:tgtEl>
                                        <p:attrNameLst>
                                          <p:attrName>style.visibility</p:attrName>
                                        </p:attrNameLst>
                                      </p:cBhvr>
                                      <p:to>
                                        <p:strVal val="visible"/>
                                      </p:to>
                                    </p:set>
                                    <p:anim calcmode="lin" valueType="num">
                                      <p:cBhvr>
                                        <p:cTn id="23" dur="1000" fill="hold"/>
                                        <p:tgtEl>
                                          <p:spTgt spid="240">
                                            <p:txEl>
                                              <p:pRg st="1" end="1"/>
                                            </p:txEl>
                                          </p:spTgt>
                                        </p:tgtEl>
                                        <p:attrNameLst>
                                          <p:attrName>ppt_x</p:attrName>
                                        </p:attrNameLst>
                                      </p:cBhvr>
                                      <p:tavLst>
                                        <p:tav tm="0">
                                          <p:val>
                                            <p:strVal val="0-#ppt_w/2"/>
                                          </p:val>
                                        </p:tav>
                                        <p:tav tm="100000">
                                          <p:val>
                                            <p:strVal val="#ppt_x"/>
                                          </p:val>
                                        </p:tav>
                                      </p:tavLst>
                                    </p:anim>
                                    <p:anim calcmode="lin" valueType="num">
                                      <p:cBhvr>
                                        <p:cTn id="24" dur="1000" fill="hold"/>
                                        <p:tgtEl>
                                          <p:spTgt spid="240">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 grpId="0" build="p" bldLvl="5" animBg="1" advAuto="0"/>
      <p:bldP spid="241" grpId="0" animBg="1" advAuto="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References"/>
          <p:cNvSpPr txBox="1">
            <a:spLocks noGrp="1"/>
          </p:cNvSpPr>
          <p:nvPr>
            <p:ph type="title"/>
          </p:nvPr>
        </p:nvSpPr>
        <p:spPr>
          <a:prstGeom prst="rect">
            <a:avLst/>
          </a:prstGeom>
        </p:spPr>
        <p:txBody>
          <a:bodyPr/>
          <a:lstStyle/>
          <a:p>
            <a:r>
              <a:t>References</a:t>
            </a:r>
          </a:p>
        </p:txBody>
      </p:sp>
      <p:sp>
        <p:nvSpPr>
          <p:cNvPr id="244" name="Kaggle: https://www.kaggle.com/datasets/thedevastator/cancer-patients-and-air-pollution-a-new-link"/>
          <p:cNvSpPr txBox="1">
            <a:spLocks noGrp="1"/>
          </p:cNvSpPr>
          <p:nvPr>
            <p:ph type="body" idx="1"/>
          </p:nvPr>
        </p:nvSpPr>
        <p:spPr>
          <a:xfrm>
            <a:off x="1206500" y="3033074"/>
            <a:ext cx="21971000" cy="9471442"/>
          </a:xfrm>
          <a:prstGeom prst="rect">
            <a:avLst/>
          </a:prstGeom>
        </p:spPr>
        <p:txBody>
          <a:bodyPr/>
          <a:lstStyle/>
          <a:p>
            <a:r>
              <a:t>Kaggle: </a:t>
            </a:r>
            <a:r>
              <a:rPr u="sng">
                <a:hlinkClick r:id="rId2"/>
              </a:rPr>
              <a:t>https://www.kaggle.com/datasets/thedevastator/cancer-patients-and-air-pollution-a-new-link</a:t>
            </a: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Thank You"/>
          <p:cNvSpPr txBox="1">
            <a:spLocks noGrp="1"/>
          </p:cNvSpPr>
          <p:nvPr>
            <p:ph type="body" idx="21"/>
          </p:nvPr>
        </p:nvSpPr>
        <p:spPr>
          <a:xfrm>
            <a:off x="2480825" y="8750610"/>
            <a:ext cx="20149252" cy="256182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pPr marL="0" lvl="8" indent="3657600">
              <a:lnSpc>
                <a:spcPct val="80000"/>
              </a:lnSpc>
              <a:spcBef>
                <a:spcPts val="0"/>
              </a:spcBef>
              <a:buSzTx/>
              <a:buNone/>
              <a:defRPr sz="11600" b="1" spc="-232"/>
            </a:pPr>
            <a:r>
              <a:t>    Thank You</a:t>
            </a:r>
          </a:p>
        </p:txBody>
      </p:sp>
      <p:sp>
        <p:nvSpPr>
          <p:cNvPr id="247" name="Any Questions?"/>
          <p:cNvSpPr txBox="1">
            <a:spLocks noGrp="1"/>
          </p:cNvSpPr>
          <p:nvPr>
            <p:ph type="body" sz="half" idx="1"/>
          </p:nvPr>
        </p:nvSpPr>
        <p:spPr>
          <a:prstGeom prst="rect">
            <a:avLst/>
          </a:prstGeom>
        </p:spPr>
        <p:txBody>
          <a:bodyPr/>
          <a:lstStyle>
            <a:lvl1pPr marL="0" indent="0" algn="ctr">
              <a:lnSpc>
                <a:spcPct val="80000"/>
              </a:lnSpc>
              <a:defRPr sz="20000" b="1" spc="-200">
                <a:latin typeface="+mn-lt"/>
                <a:ea typeface="+mn-ea"/>
                <a:cs typeface="+mn-cs"/>
                <a:sym typeface="Helvetica Neue"/>
              </a:defRPr>
            </a:lvl1pPr>
          </a:lstStyle>
          <a:p>
            <a:r>
              <a:t>Any Questions?</a:t>
            </a:r>
          </a:p>
        </p:txBody>
      </p:sp>
    </p:spTree>
  </p:cSld>
  <p:clrMapOvr>
    <a:masterClrMapping/>
  </p:clrMapOvr>
  <p:transition spd="med"/>
</p:sld>
</file>

<file path=ppt/theme/theme1.xml><?xml version="1.0" encoding="utf-8"?>
<a:theme xmlns:a="http://schemas.openxmlformats.org/drawingml/2006/main" name="30_BasicColor">
  <a:themeElements>
    <a:clrScheme name="30_BasicColor">
      <a:dk1>
        <a:srgbClr val="000000"/>
      </a:dk1>
      <a:lt1>
        <a:srgbClr val="003462"/>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30_BasicColor">
      <a:majorFont>
        <a:latin typeface="Helvetica Neue"/>
        <a:ea typeface="Helvetica Neue"/>
        <a:cs typeface="Helvetica Neue"/>
      </a:majorFont>
      <a:minorFont>
        <a:latin typeface="Helvetica Neue"/>
        <a:ea typeface="Helvetica Neue"/>
        <a:cs typeface="Helvetica Neue"/>
      </a:minorFont>
    </a:fontScheme>
    <a:fmtScheme name="30_BasicCol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10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30_BasicColor">
  <a:themeElements>
    <a:clrScheme name="30_BasicColor">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30_BasicColor">
      <a:majorFont>
        <a:latin typeface="Helvetica Neue"/>
        <a:ea typeface="Helvetica Neue"/>
        <a:cs typeface="Helvetica Neue"/>
      </a:majorFont>
      <a:minorFont>
        <a:latin typeface="Helvetica Neue"/>
        <a:ea typeface="Helvetica Neue"/>
        <a:cs typeface="Helvetica Neue"/>
      </a:minorFont>
    </a:fontScheme>
    <a:fmtScheme name="30_BasicCol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10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11</TotalTime>
  <Words>801</Words>
  <Application>Microsoft Office PowerPoint</Application>
  <PresentationFormat>Custom</PresentationFormat>
  <Paragraphs>163</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30_BasicColor</vt:lpstr>
      <vt:lpstr>Lung Cancer Prediction</vt:lpstr>
      <vt:lpstr>PowerPoint Presentation</vt:lpstr>
      <vt:lpstr>Introduction</vt:lpstr>
      <vt:lpstr>Data Visualization </vt:lpstr>
      <vt:lpstr>Data Visualization </vt:lpstr>
      <vt:lpstr>Data Preprocessing</vt:lpstr>
      <vt:lpstr>Data Preprocessing</vt:lpstr>
      <vt:lpstr>Data Preprocessing</vt:lpstr>
      <vt:lpstr>Data Preprocessing</vt:lpstr>
      <vt:lpstr>Important Features</vt:lpstr>
      <vt:lpstr>Model Selection</vt:lpstr>
      <vt:lpstr>Model Selection</vt:lpstr>
      <vt:lpstr>Model Evaluation </vt:lpstr>
      <vt:lpstr>Model Training</vt:lpstr>
      <vt:lpstr>Model Training </vt:lpstr>
      <vt:lpstr>Model Training </vt:lpstr>
      <vt:lpstr>PowerPoint Presentation</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Ashok Kumar Parihar</cp:lastModifiedBy>
  <cp:revision>2</cp:revision>
  <dcterms:modified xsi:type="dcterms:W3CDTF">2025-04-27T01:05:06Z</dcterms:modified>
</cp:coreProperties>
</file>